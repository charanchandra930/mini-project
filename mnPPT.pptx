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73" r:id="rId5"/>
    <p:sldId id="261" r:id="rId6"/>
    <p:sldId id="274" r:id="rId7"/>
    <p:sldId id="275" r:id="rId8"/>
    <p:sldId id="276" r:id="rId9"/>
    <p:sldId id="277" r:id="rId10"/>
    <p:sldId id="278" r:id="rId11"/>
    <p:sldId id="279" r:id="rId12"/>
    <p:sldId id="259" r:id="rId13"/>
    <p:sldId id="269" r:id="rId14"/>
    <p:sldId id="270" r:id="rId15"/>
    <p:sldId id="262" r:id="rId16"/>
    <p:sldId id="271" r:id="rId17"/>
    <p:sldId id="260" r:id="rId18"/>
    <p:sldId id="272" r:id="rId19"/>
    <p:sldId id="268" r:id="rId20"/>
    <p:sldId id="265"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4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E769C-B82C-4EBF-AFDE-30368C9013FA}" type="datetimeFigureOut">
              <a:rPr lang="en-IN" smtClean="0"/>
              <a:pPr/>
              <a:t>27-01-2026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EC1C6-DC07-4644-8E97-0F093327BA80}" type="slidenum">
              <a:rPr lang="en-IN" smtClean="0"/>
              <a:pPr/>
              <a:t>‹#›</a:t>
            </a:fld>
            <a:endParaRPr lang="en-IN"/>
          </a:p>
        </p:txBody>
      </p:sp>
    </p:spTree>
    <p:extLst>
      <p:ext uri="{BB962C8B-B14F-4D97-AF65-F5344CB8AC3E}">
        <p14:creationId xmlns:p14="http://schemas.microsoft.com/office/powerpoint/2010/main" val="2587170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66F6E1A-79D4-4D66-96A9-02641756F64C}" type="datetime1">
              <a:rPr lang="en-US" smtClean="0"/>
              <a:pPr/>
              <a:t>1/27/2026</a:t>
            </a:fld>
            <a:endParaRPr lang="en-US"/>
          </a:p>
        </p:txBody>
      </p:sp>
      <p:sp>
        <p:nvSpPr>
          <p:cNvPr id="5" name="Footer Placeholder 4"/>
          <p:cNvSpPr>
            <a:spLocks noGrp="1"/>
          </p:cNvSpPr>
          <p:nvPr>
            <p:ph type="ftr" sz="quarter" idx="11"/>
          </p:nvPr>
        </p:nvSpPr>
        <p:spPr/>
        <p:txBody>
          <a:bodyPr/>
          <a:lstStyle/>
          <a:p>
            <a:r>
              <a:rPr lang="en-US"/>
              <a:t>Department of AIML &amp; AIDS</a:t>
            </a:r>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5006F6-D2CD-4DB9-9FF0-408322DF33B8}" type="datetime1">
              <a:rPr lang="en-US" smtClean="0"/>
              <a:pPr/>
              <a:t>1/27/2026</a:t>
            </a:fld>
            <a:endParaRPr lang="en-US"/>
          </a:p>
        </p:txBody>
      </p:sp>
      <p:sp>
        <p:nvSpPr>
          <p:cNvPr id="5" name="Footer Placeholder 4"/>
          <p:cNvSpPr>
            <a:spLocks noGrp="1"/>
          </p:cNvSpPr>
          <p:nvPr>
            <p:ph type="ftr" sz="quarter" idx="11"/>
          </p:nvPr>
        </p:nvSpPr>
        <p:spPr>
          <a:xfrm>
            <a:off x="3124200" y="6356350"/>
            <a:ext cx="2895600" cy="365125"/>
          </a:xfrm>
        </p:spPr>
        <p:txBody>
          <a:bodyPr/>
          <a:lstStyle/>
          <a:p>
            <a:r>
              <a:rPr lang="en-US"/>
              <a:t>Department of AIML &amp; AIDS</a:t>
            </a:r>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pic>
        <p:nvPicPr>
          <p:cNvPr id="9" name="Picture 8">
            <a:extLst>
              <a:ext uri="{FF2B5EF4-FFF2-40B4-BE49-F238E27FC236}">
                <a16:creationId xmlns:a16="http://schemas.microsoft.com/office/drawing/2014/main" id="{9BACE2A9-81E9-C415-C441-00DB3510AF8B}"/>
              </a:ext>
            </a:extLst>
          </p:cNvPr>
          <p:cNvPicPr>
            <a:picLocks noChangeAspect="1"/>
          </p:cNvPicPr>
          <p:nvPr userDrawn="1"/>
        </p:nvPicPr>
        <p:blipFill>
          <a:blip r:embed="rId2"/>
          <a:stretch>
            <a:fillRect/>
          </a:stretch>
        </p:blipFill>
        <p:spPr>
          <a:xfrm>
            <a:off x="7944547" y="155369"/>
            <a:ext cx="1030488" cy="805069"/>
          </a:xfrm>
          <a:prstGeom prst="rect">
            <a:avLst/>
          </a:prstGeom>
        </p:spPr>
      </p:pic>
      <p:sp>
        <p:nvSpPr>
          <p:cNvPr id="10" name="Rectangle 9">
            <a:extLst>
              <a:ext uri="{FF2B5EF4-FFF2-40B4-BE49-F238E27FC236}">
                <a16:creationId xmlns:a16="http://schemas.microsoft.com/office/drawing/2014/main" id="{7BE974FA-3FFF-7EB8-AC73-B693063A5F2A}"/>
              </a:ext>
            </a:extLst>
          </p:cNvPr>
          <p:cNvSpPr/>
          <p:nvPr userDrawn="1"/>
        </p:nvSpPr>
        <p:spPr>
          <a:xfrm>
            <a:off x="59634" y="52318"/>
            <a:ext cx="8994913" cy="6805681"/>
          </a:xfrm>
          <a:prstGeom prst="rect">
            <a:avLst/>
          </a:prstGeom>
          <a:noFill/>
          <a:ln w="571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80F3E0-320B-4D14-8163-71670D2A8714}" type="datetime1">
              <a:rPr lang="en-US" smtClean="0"/>
              <a:pPr/>
              <a:t>1/27/2026</a:t>
            </a:fld>
            <a:endParaRPr lang="en-US"/>
          </a:p>
        </p:txBody>
      </p:sp>
      <p:sp>
        <p:nvSpPr>
          <p:cNvPr id="5" name="Footer Placeholder 4"/>
          <p:cNvSpPr>
            <a:spLocks noGrp="1"/>
          </p:cNvSpPr>
          <p:nvPr>
            <p:ph type="ftr" sz="quarter" idx="11"/>
          </p:nvPr>
        </p:nvSpPr>
        <p:spPr/>
        <p:txBody>
          <a:bodyPr/>
          <a:lstStyle/>
          <a:p>
            <a:r>
              <a:rPr lang="en-US"/>
              <a:t>Department of AIML &amp; AIDS</a:t>
            </a:r>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74264D-EDA7-4520-847D-75D428A23488}" type="datetime1">
              <a:rPr lang="en-US" smtClean="0"/>
              <a:pPr/>
              <a:t>1/27/2026</a:t>
            </a:fld>
            <a:endParaRPr lang="en-US"/>
          </a:p>
        </p:txBody>
      </p:sp>
      <p:sp>
        <p:nvSpPr>
          <p:cNvPr id="6" name="Footer Placeholder 5"/>
          <p:cNvSpPr>
            <a:spLocks noGrp="1"/>
          </p:cNvSpPr>
          <p:nvPr>
            <p:ph type="ftr" sz="quarter" idx="11"/>
          </p:nvPr>
        </p:nvSpPr>
        <p:spPr/>
        <p:txBody>
          <a:bodyPr/>
          <a:lstStyle/>
          <a:p>
            <a:r>
              <a:rPr lang="en-US"/>
              <a:t>Department of AIML &amp; AIDS</a:t>
            </a:r>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5ABB296-D3D6-4976-914C-C0AA2A364825}" type="datetime1">
              <a:rPr lang="en-US" smtClean="0"/>
              <a:pPr/>
              <a:t>1/27/2026</a:t>
            </a:fld>
            <a:endParaRPr lang="en-US"/>
          </a:p>
        </p:txBody>
      </p:sp>
      <p:sp>
        <p:nvSpPr>
          <p:cNvPr id="8" name="Footer Placeholder 7"/>
          <p:cNvSpPr>
            <a:spLocks noGrp="1"/>
          </p:cNvSpPr>
          <p:nvPr>
            <p:ph type="ftr" sz="quarter" idx="11"/>
          </p:nvPr>
        </p:nvSpPr>
        <p:spPr/>
        <p:txBody>
          <a:bodyPr/>
          <a:lstStyle/>
          <a:p>
            <a:r>
              <a:rPr lang="en-US"/>
              <a:t>Department of AIML &amp; AIDS</a:t>
            </a:r>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464B5E-B29E-44C1-B11E-DFB87F8CBE91}" type="datetime1">
              <a:rPr lang="en-US" smtClean="0"/>
              <a:pPr/>
              <a:t>1/27/2026</a:t>
            </a:fld>
            <a:endParaRPr lang="en-US"/>
          </a:p>
        </p:txBody>
      </p:sp>
      <p:sp>
        <p:nvSpPr>
          <p:cNvPr id="4" name="Footer Placeholder 3"/>
          <p:cNvSpPr>
            <a:spLocks noGrp="1"/>
          </p:cNvSpPr>
          <p:nvPr>
            <p:ph type="ftr" sz="quarter" idx="11"/>
          </p:nvPr>
        </p:nvSpPr>
        <p:spPr/>
        <p:txBody>
          <a:bodyPr/>
          <a:lstStyle/>
          <a:p>
            <a:r>
              <a:rPr lang="en-US"/>
              <a:t>Department of AIML &amp; AIDS</a:t>
            </a:r>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93388D-7596-40C4-8D6A-FBC9A5300160}" type="datetime1">
              <a:rPr lang="en-US" smtClean="0"/>
              <a:pPr/>
              <a:t>1/27/2026</a:t>
            </a:fld>
            <a:endParaRPr lang="en-US"/>
          </a:p>
        </p:txBody>
      </p:sp>
      <p:sp>
        <p:nvSpPr>
          <p:cNvPr id="3" name="Footer Placeholder 2"/>
          <p:cNvSpPr>
            <a:spLocks noGrp="1"/>
          </p:cNvSpPr>
          <p:nvPr>
            <p:ph type="ftr" sz="quarter" idx="11"/>
          </p:nvPr>
        </p:nvSpPr>
        <p:spPr/>
        <p:txBody>
          <a:bodyPr/>
          <a:lstStyle/>
          <a:p>
            <a:r>
              <a:rPr lang="en-US"/>
              <a:t>Department of AIML &amp; AIDS</a:t>
            </a:r>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3E444E-C341-47B3-8EF7-7471E07CEE7E}" type="datetime1">
              <a:rPr lang="en-US" smtClean="0"/>
              <a:pPr/>
              <a:t>1/27/2026</a:t>
            </a:fld>
            <a:endParaRPr lang="en-US"/>
          </a:p>
        </p:txBody>
      </p:sp>
      <p:sp>
        <p:nvSpPr>
          <p:cNvPr id="6" name="Footer Placeholder 5"/>
          <p:cNvSpPr>
            <a:spLocks noGrp="1"/>
          </p:cNvSpPr>
          <p:nvPr>
            <p:ph type="ftr" sz="quarter" idx="11"/>
          </p:nvPr>
        </p:nvSpPr>
        <p:spPr/>
        <p:txBody>
          <a:bodyPr/>
          <a:lstStyle/>
          <a:p>
            <a:r>
              <a:rPr lang="en-US"/>
              <a:t>Department of AIML &amp; AIDS</a:t>
            </a:r>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38120A-6733-425C-9AB1-AC6938AE6D96}" type="datetime1">
              <a:rPr lang="en-US" smtClean="0"/>
              <a:pPr/>
              <a:t>1/27/2026</a:t>
            </a:fld>
            <a:endParaRPr lang="en-US"/>
          </a:p>
        </p:txBody>
      </p:sp>
      <p:sp>
        <p:nvSpPr>
          <p:cNvPr id="6" name="Footer Placeholder 5"/>
          <p:cNvSpPr>
            <a:spLocks noGrp="1"/>
          </p:cNvSpPr>
          <p:nvPr>
            <p:ph type="ftr" sz="quarter" idx="11"/>
          </p:nvPr>
        </p:nvSpPr>
        <p:spPr/>
        <p:txBody>
          <a:bodyPr/>
          <a:lstStyle/>
          <a:p>
            <a:r>
              <a:rPr lang="en-US"/>
              <a:t>Department of AIML &amp; AIDS</a:t>
            </a:r>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0BB8F7-A5B2-4141-99E2-A507119EDB81}" type="datetime1">
              <a:rPr lang="en-US" smtClean="0"/>
              <a:pPr/>
              <a:t>1/27/2026</a:t>
            </a:fld>
            <a:endParaRPr lang="en-US"/>
          </a:p>
        </p:txBody>
      </p:sp>
      <p:sp>
        <p:nvSpPr>
          <p:cNvPr id="5" name="Footer Placeholder 4"/>
          <p:cNvSpPr>
            <a:spLocks noGrp="1"/>
          </p:cNvSpPr>
          <p:nvPr>
            <p:ph type="ftr" sz="quarter" idx="11"/>
          </p:nvPr>
        </p:nvSpPr>
        <p:spPr/>
        <p:txBody>
          <a:bodyPr/>
          <a:lstStyle/>
          <a:p>
            <a:r>
              <a:rPr lang="en-US"/>
              <a:t>Department of AIML &amp; AIDS</a:t>
            </a:r>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A64DE0-104F-4C7B-9332-ADB8CD27A54A}" type="datetime1">
              <a:rPr lang="en-US" smtClean="0"/>
              <a:pPr/>
              <a:t>1/27/2026</a:t>
            </a:fld>
            <a:endParaRPr lang="en-US"/>
          </a:p>
        </p:txBody>
      </p:sp>
      <p:sp>
        <p:nvSpPr>
          <p:cNvPr id="5" name="Footer Placeholder 4"/>
          <p:cNvSpPr>
            <a:spLocks noGrp="1"/>
          </p:cNvSpPr>
          <p:nvPr>
            <p:ph type="ftr" sz="quarter" idx="11"/>
          </p:nvPr>
        </p:nvSpPr>
        <p:spPr/>
        <p:txBody>
          <a:bodyPr/>
          <a:lstStyle/>
          <a:p>
            <a:r>
              <a:rPr lang="en-US"/>
              <a:t>Department of AIML &amp; AIDS</a:t>
            </a:r>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EEE183-FF20-4E68-A843-2ACC3178A355}" type="datetime1">
              <a:rPr lang="en-US" smtClean="0"/>
              <a:pPr/>
              <a:t>1/27/2026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AIML &amp; AIDS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716" y="326571"/>
            <a:ext cx="8251370" cy="1284515"/>
          </a:xfrm>
        </p:spPr>
        <p:txBody>
          <a:bodyPr>
            <a:normAutofit fontScale="90000"/>
          </a:bodyPr>
          <a:lstStyle/>
          <a:p>
            <a:pPr>
              <a:defRPr sz="4400" b="1">
                <a:solidFill>
                  <a:srgbClr val="000000"/>
                </a:solidFill>
                <a:latin typeface="Calibri"/>
              </a:defRPr>
            </a:pPr>
            <a:br>
              <a:rPr lang="en-IN" sz="4000" dirty="0"/>
            </a:br>
            <a:br>
              <a:rPr lang="en-IN" sz="4000" dirty="0"/>
            </a:br>
            <a:r>
              <a:rPr lang="en-IN" sz="4000" dirty="0">
                <a:solidFill>
                  <a:schemeClr val="accent1"/>
                </a:solidFill>
              </a:rPr>
              <a:t>VARDHAMAN COLLEGE OF ENGINEERING</a:t>
            </a:r>
            <a:br>
              <a:rPr lang="en-IN" dirty="0">
                <a:solidFill>
                  <a:schemeClr val="accent1"/>
                </a:solidFill>
              </a:rPr>
            </a:br>
            <a:r>
              <a:rPr lang="en-IN" sz="3600" dirty="0">
                <a:solidFill>
                  <a:schemeClr val="accent1"/>
                </a:solidFill>
              </a:rPr>
              <a:t>DEPARTMENT OF CSE</a:t>
            </a:r>
            <a:endParaRPr dirty="0">
              <a:solidFill>
                <a:schemeClr val="accent1"/>
              </a:solidFill>
            </a:endParaRPr>
          </a:p>
        </p:txBody>
      </p:sp>
      <p:sp>
        <p:nvSpPr>
          <p:cNvPr id="3" name="Content Placeholder 2"/>
          <p:cNvSpPr>
            <a:spLocks noGrp="1"/>
          </p:cNvSpPr>
          <p:nvPr>
            <p:ph idx="1"/>
          </p:nvPr>
        </p:nvSpPr>
        <p:spPr>
          <a:xfrm>
            <a:off x="489857" y="2219632"/>
            <a:ext cx="7783288" cy="4144963"/>
          </a:xfrm>
        </p:spPr>
        <p:txBody>
          <a:bodyPr>
            <a:normAutofit fontScale="62500" lnSpcReduction="20000"/>
          </a:bodyPr>
          <a:lstStyle/>
          <a:p>
            <a:pPr marL="0" indent="0" algn="ctr">
              <a:buNone/>
            </a:pPr>
            <a:r>
              <a:rPr lang="en-US" dirty="0"/>
              <a:t>Mini Project Review - I</a:t>
            </a:r>
          </a:p>
          <a:p>
            <a:pPr marL="0" indent="0" algn="ctr">
              <a:buNone/>
            </a:pPr>
            <a:r>
              <a:rPr lang="en-US" b="1" dirty="0"/>
              <a:t>       Title: </a:t>
            </a:r>
            <a:r>
              <a:rPr lang="en-US" dirty="0"/>
              <a:t> AI-Driven Polypharmacy Risk Prediction Using Graph Neural Networks</a:t>
            </a:r>
          </a:p>
          <a:p>
            <a:pPr marL="0" indent="0" algn="ctr">
              <a:buNone/>
            </a:pPr>
            <a:r>
              <a:rPr lang="en-US" dirty="0"/>
              <a:t>Team No: 23MPCS-H18</a:t>
            </a:r>
          </a:p>
          <a:p>
            <a:pPr marL="0" indent="0">
              <a:buNone/>
            </a:pPr>
            <a:endParaRPr lang="en-US" dirty="0"/>
          </a:p>
          <a:p>
            <a:pPr marL="0" indent="0">
              <a:buNone/>
            </a:pPr>
            <a:endParaRPr lang="en-US" dirty="0"/>
          </a:p>
          <a:p>
            <a:pPr marL="0" indent="0">
              <a:buNone/>
            </a:pPr>
            <a:endParaRPr lang="en-US" dirty="0"/>
          </a:p>
          <a:p>
            <a:pPr marL="0" indent="0" algn="ctr">
              <a:buNone/>
            </a:pPr>
            <a:endParaRPr lang="en-US" u="sng" dirty="0"/>
          </a:p>
          <a:p>
            <a:pPr marL="0" indent="0" algn="ctr">
              <a:buNone/>
            </a:pPr>
            <a:r>
              <a:rPr lang="en-US" u="sng" dirty="0"/>
              <a:t>Guide Details</a:t>
            </a:r>
          </a:p>
          <a:p>
            <a:pPr marL="0" indent="0" algn="ctr">
              <a:buNone/>
            </a:pPr>
            <a:endParaRPr lang="en-US" dirty="0"/>
          </a:p>
          <a:p>
            <a:pPr marL="0" indent="0" algn="ctr">
              <a:buNone/>
            </a:pPr>
            <a:endParaRPr lang="en-US" dirty="0"/>
          </a:p>
          <a:p>
            <a:pPr marL="0" indent="0" algn="ctr">
              <a:buNone/>
            </a:pPr>
            <a:r>
              <a:rPr lang="en-US" dirty="0"/>
              <a:t>MR. Rajkumar B Patil</a:t>
            </a:r>
          </a:p>
          <a:p>
            <a:pPr marL="0" indent="0" algn="ctr">
              <a:spcBef>
                <a:spcPts val="0"/>
              </a:spcBef>
              <a:buNone/>
            </a:pPr>
            <a:r>
              <a:rPr lang="en-US" dirty="0"/>
              <a:t>Associate Professor </a:t>
            </a:r>
          </a:p>
          <a:p>
            <a:pPr marL="0" indent="0" algn="l">
              <a:buNone/>
              <a:defRPr sz="2400">
                <a:solidFill>
                  <a:srgbClr val="505050"/>
                </a:solidFill>
                <a:latin typeface="Calibri"/>
              </a:defRPr>
            </a:pPr>
            <a:endParaRPr lang="en-IN" dirty="0"/>
          </a:p>
          <a:p>
            <a:pPr marL="0" indent="0" algn="l">
              <a:buNone/>
              <a:defRPr sz="2400">
                <a:solidFill>
                  <a:srgbClr val="505050"/>
                </a:solidFill>
                <a:latin typeface="Calibri"/>
              </a:defRPr>
            </a:pPr>
            <a:endParaRPr lang="en-IN" dirty="0"/>
          </a:p>
          <a:p>
            <a:pPr algn="l">
              <a:defRPr sz="2400">
                <a:solidFill>
                  <a:srgbClr val="505050"/>
                </a:solidFill>
                <a:latin typeface="Calibri"/>
              </a:defRPr>
            </a:pPr>
            <a:endParaRPr dirty="0"/>
          </a:p>
        </p:txBody>
      </p:sp>
      <p:sp>
        <p:nvSpPr>
          <p:cNvPr id="4" name="Footer Placeholder 3">
            <a:extLst>
              <a:ext uri="{FF2B5EF4-FFF2-40B4-BE49-F238E27FC236}">
                <a16:creationId xmlns:a16="http://schemas.microsoft.com/office/drawing/2014/main" id="{764ABBD3-75E6-DEF6-F2AE-6B19BAF34DFC}"/>
              </a:ext>
            </a:extLst>
          </p:cNvPr>
          <p:cNvSpPr>
            <a:spLocks noGrp="1"/>
          </p:cNvSpPr>
          <p:nvPr>
            <p:ph type="ftr" sz="quarter" idx="11"/>
          </p:nvPr>
        </p:nvSpPr>
        <p:spPr>
          <a:xfrm>
            <a:off x="2208627" y="6356350"/>
            <a:ext cx="4979963" cy="365125"/>
          </a:xfrm>
        </p:spPr>
        <p:txBody>
          <a:bodyPr/>
          <a:lstStyle/>
          <a:p>
            <a:r>
              <a:rPr lang="en-US" b="1" dirty="0"/>
              <a:t>Department of Computer Science and Engineering</a:t>
            </a:r>
          </a:p>
        </p:txBody>
      </p:sp>
      <p:graphicFrame>
        <p:nvGraphicFramePr>
          <p:cNvPr id="5" name="Table 4">
            <a:extLst>
              <a:ext uri="{FF2B5EF4-FFF2-40B4-BE49-F238E27FC236}">
                <a16:creationId xmlns:a16="http://schemas.microsoft.com/office/drawing/2014/main" id="{FFB7C7A2-344E-5673-0549-1169E8DDC3DC}"/>
              </a:ext>
            </a:extLst>
          </p:cNvPr>
          <p:cNvGraphicFramePr>
            <a:graphicFrameLocks noGrp="1"/>
          </p:cNvGraphicFramePr>
          <p:nvPr>
            <p:extLst>
              <p:ext uri="{D42A27DB-BD31-4B8C-83A1-F6EECF244321}">
                <p14:modId xmlns:p14="http://schemas.microsoft.com/office/powerpoint/2010/main" val="1357235506"/>
              </p:ext>
            </p:extLst>
          </p:nvPr>
        </p:nvGraphicFramePr>
        <p:xfrm>
          <a:off x="1981200" y="3623733"/>
          <a:ext cx="5139267" cy="2377440"/>
        </p:xfrm>
        <a:graphic>
          <a:graphicData uri="http://schemas.openxmlformats.org/drawingml/2006/table">
            <a:tbl>
              <a:tblPr firstRow="1" bandRow="1">
                <a:tableStyleId>{5C22544A-7EE6-4342-B048-85BDC9FD1C3A}</a:tableStyleId>
              </a:tblPr>
              <a:tblGrid>
                <a:gridCol w="1713089">
                  <a:extLst>
                    <a:ext uri="{9D8B030D-6E8A-4147-A177-3AD203B41FA5}">
                      <a16:colId xmlns:a16="http://schemas.microsoft.com/office/drawing/2014/main" val="193301951"/>
                    </a:ext>
                  </a:extLst>
                </a:gridCol>
                <a:gridCol w="1713089">
                  <a:extLst>
                    <a:ext uri="{9D8B030D-6E8A-4147-A177-3AD203B41FA5}">
                      <a16:colId xmlns:a16="http://schemas.microsoft.com/office/drawing/2014/main" val="4022276433"/>
                    </a:ext>
                  </a:extLst>
                </a:gridCol>
                <a:gridCol w="1713089">
                  <a:extLst>
                    <a:ext uri="{9D8B030D-6E8A-4147-A177-3AD203B41FA5}">
                      <a16:colId xmlns:a16="http://schemas.microsoft.com/office/drawing/2014/main" val="1884671325"/>
                    </a:ext>
                  </a:extLst>
                </a:gridCol>
              </a:tblGrid>
              <a:tr h="325940">
                <a:tc>
                  <a:txBody>
                    <a:bodyPr/>
                    <a:lstStyle/>
                    <a:p>
                      <a:r>
                        <a:rPr lang="en-IN" dirty="0" err="1"/>
                        <a:t>S.No</a:t>
                      </a:r>
                      <a:endParaRPr lang="en-IN" dirty="0"/>
                    </a:p>
                  </a:txBody>
                  <a:tcPr/>
                </a:tc>
                <a:tc>
                  <a:txBody>
                    <a:bodyPr/>
                    <a:lstStyle/>
                    <a:p>
                      <a:r>
                        <a:rPr lang="en-IN" dirty="0"/>
                        <a:t>Roll No</a:t>
                      </a:r>
                    </a:p>
                  </a:txBody>
                  <a:tcPr/>
                </a:tc>
                <a:tc>
                  <a:txBody>
                    <a:bodyPr/>
                    <a:lstStyle/>
                    <a:p>
                      <a:r>
                        <a:rPr lang="en-IN" dirty="0"/>
                        <a:t>Student Name</a:t>
                      </a:r>
                    </a:p>
                  </a:txBody>
                  <a:tcPr/>
                </a:tc>
                <a:extLst>
                  <a:ext uri="{0D108BD9-81ED-4DB2-BD59-A6C34878D82A}">
                    <a16:rowId xmlns:a16="http://schemas.microsoft.com/office/drawing/2014/main" val="3555334176"/>
                  </a:ext>
                </a:extLst>
              </a:tr>
              <a:tr h="540746">
                <a:tc>
                  <a:txBody>
                    <a:bodyPr/>
                    <a:lstStyle/>
                    <a:p>
                      <a:pPr algn="ctr"/>
                      <a:r>
                        <a:rPr lang="en-IN" dirty="0"/>
                        <a:t>1</a:t>
                      </a:r>
                    </a:p>
                  </a:txBody>
                  <a:tcPr/>
                </a:tc>
                <a:tc>
                  <a:txBody>
                    <a:bodyPr/>
                    <a:lstStyle/>
                    <a:p>
                      <a:r>
                        <a:rPr lang="en-IN" dirty="0"/>
                        <a:t>23881A05FE</a:t>
                      </a:r>
                    </a:p>
                  </a:txBody>
                  <a:tcPr/>
                </a:tc>
                <a:tc>
                  <a:txBody>
                    <a:bodyPr/>
                    <a:lstStyle/>
                    <a:p>
                      <a:r>
                        <a:rPr lang="en-IN" dirty="0"/>
                        <a:t>G Charan Chandra</a:t>
                      </a:r>
                    </a:p>
                  </a:txBody>
                  <a:tcPr/>
                </a:tc>
                <a:extLst>
                  <a:ext uri="{0D108BD9-81ED-4DB2-BD59-A6C34878D82A}">
                    <a16:rowId xmlns:a16="http://schemas.microsoft.com/office/drawing/2014/main" val="2040063704"/>
                  </a:ext>
                </a:extLst>
              </a:tr>
              <a:tr h="325940">
                <a:tc>
                  <a:txBody>
                    <a:bodyPr/>
                    <a:lstStyle/>
                    <a:p>
                      <a:pPr algn="ctr"/>
                      <a:r>
                        <a:rPr lang="en-IN" dirty="0"/>
                        <a:t>2</a:t>
                      </a:r>
                    </a:p>
                  </a:txBody>
                  <a:tcPr/>
                </a:tc>
                <a:tc>
                  <a:txBody>
                    <a:bodyPr/>
                    <a:lstStyle/>
                    <a:p>
                      <a:r>
                        <a:rPr lang="en-IN" dirty="0"/>
                        <a:t>23881A05FL</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G. </a:t>
                      </a:r>
                      <a:r>
                        <a:rPr lang="en-IN" dirty="0" err="1"/>
                        <a:t>Nagadeepika</a:t>
                      </a:r>
                      <a:r>
                        <a:rPr lang="en-IN" dirty="0"/>
                        <a:t> </a:t>
                      </a:r>
                    </a:p>
                  </a:txBody>
                  <a:tcPr/>
                </a:tc>
                <a:extLst>
                  <a:ext uri="{0D108BD9-81ED-4DB2-BD59-A6C34878D82A}">
                    <a16:rowId xmlns:a16="http://schemas.microsoft.com/office/drawing/2014/main" val="1160159100"/>
                  </a:ext>
                </a:extLst>
              </a:tr>
              <a:tr h="540746">
                <a:tc>
                  <a:txBody>
                    <a:bodyPr/>
                    <a:lstStyle/>
                    <a:p>
                      <a:pPr algn="ctr"/>
                      <a:r>
                        <a:rPr lang="en-IN" dirty="0"/>
                        <a:t>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23881A05GR</a:t>
                      </a:r>
                    </a:p>
                    <a:p>
                      <a:endParaRPr lang="en-IN" dirty="0"/>
                    </a:p>
                  </a:txBody>
                  <a:tcPr/>
                </a:tc>
                <a:tc>
                  <a:txBody>
                    <a:bodyPr/>
                    <a:lstStyle/>
                    <a:p>
                      <a:r>
                        <a:rPr lang="en-IN" dirty="0"/>
                        <a:t>V Praveen Dheeraj</a:t>
                      </a:r>
                    </a:p>
                  </a:txBody>
                  <a:tcPr/>
                </a:tc>
                <a:extLst>
                  <a:ext uri="{0D108BD9-81ED-4DB2-BD59-A6C34878D82A}">
                    <a16:rowId xmlns:a16="http://schemas.microsoft.com/office/drawing/2014/main" val="2966344131"/>
                  </a:ext>
                </a:extLst>
              </a:tr>
              <a:tr h="325940">
                <a:tc>
                  <a:txBody>
                    <a:bodyPr/>
                    <a:lstStyle/>
                    <a:p>
                      <a:pPr algn="ct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5132415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Table of Contents</a:t>
            </a:r>
          </a:p>
        </p:txBody>
      </p:sp>
      <p:sp>
        <p:nvSpPr>
          <p:cNvPr id="3" name="Content Placeholder 2"/>
          <p:cNvSpPr>
            <a:spLocks noGrp="1"/>
          </p:cNvSpPr>
          <p:nvPr>
            <p:ph idx="1"/>
          </p:nvPr>
        </p:nvSpPr>
        <p:spPr>
          <a:ln>
            <a:solidFill>
              <a:schemeClr val="accent1"/>
            </a:solidFill>
          </a:ln>
        </p:spPr>
        <p:txBody>
          <a:bodyPr>
            <a:normAutofit/>
          </a:bodyPr>
          <a:lstStyle/>
          <a:p>
            <a:pPr marL="0" indent="0">
              <a:buNone/>
            </a:pPr>
            <a:r>
              <a:rPr lang="en-US" dirty="0"/>
              <a:t>1. Title</a:t>
            </a:r>
          </a:p>
          <a:p>
            <a:pPr marL="0" indent="0">
              <a:buNone/>
            </a:pPr>
            <a:r>
              <a:rPr lang="en-US" dirty="0"/>
              <a:t>2. Background Research</a:t>
            </a:r>
          </a:p>
          <a:p>
            <a:pPr marL="0" indent="0">
              <a:buNone/>
            </a:pPr>
            <a:r>
              <a:rPr lang="en-US" dirty="0"/>
              <a:t>3. Project Planning (Include Gantt Chart)</a:t>
            </a:r>
          </a:p>
          <a:p>
            <a:pPr marL="0" indent="0">
              <a:buNone/>
            </a:pPr>
            <a:r>
              <a:rPr lang="en-US" dirty="0"/>
              <a:t>4. Literature Survey</a:t>
            </a:r>
          </a:p>
          <a:p>
            <a:pPr marL="0" indent="0">
              <a:buNone/>
            </a:pPr>
            <a:r>
              <a:rPr lang="en-US" dirty="0"/>
              <a:t>5. Objectives</a:t>
            </a:r>
          </a:p>
          <a:p>
            <a:pPr marL="0" indent="0">
              <a:buNone/>
            </a:pPr>
            <a:r>
              <a:rPr lang="en-US" dirty="0"/>
              <a:t>6. Project Milestone Tracker</a:t>
            </a:r>
          </a:p>
          <a:p>
            <a:pPr marL="0" indent="0">
              <a:buNone/>
            </a:pPr>
            <a:r>
              <a:rPr lang="en-US" dirty="0"/>
              <a:t>7. Q&amp;A</a:t>
            </a:r>
          </a:p>
        </p:txBody>
      </p:sp>
      <p:sp>
        <p:nvSpPr>
          <p:cNvPr id="4" name="Footer Placeholder 3">
            <a:extLst>
              <a:ext uri="{FF2B5EF4-FFF2-40B4-BE49-F238E27FC236}">
                <a16:creationId xmlns:a16="http://schemas.microsoft.com/office/drawing/2014/main" id="{37094A53-70EB-1F06-12F6-AC289A775ED0}"/>
              </a:ext>
            </a:extLst>
          </p:cNvPr>
          <p:cNvSpPr>
            <a:spLocks noGrp="1"/>
          </p:cNvSpPr>
          <p:nvPr>
            <p:ph type="ftr" sz="quarter" idx="11"/>
          </p:nvPr>
        </p:nvSpPr>
        <p:spPr>
          <a:xfrm>
            <a:off x="2166425" y="6356350"/>
            <a:ext cx="4642338" cy="365125"/>
          </a:xfrm>
        </p:spPr>
        <p:txBody>
          <a:bodyPr/>
          <a:lstStyle/>
          <a:p>
            <a:r>
              <a:rPr lang="en-US" b="1" dirty="0"/>
              <a:t>Department of Computer Science and Engineering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a:bodyPr>
          <a:lstStyle/>
          <a:p>
            <a:r>
              <a:rPr lang="en-US" dirty="0"/>
              <a:t>TITLE</a:t>
            </a:r>
          </a:p>
        </p:txBody>
      </p:sp>
      <p:sp>
        <p:nvSpPr>
          <p:cNvPr id="7" name="Content Placeholder 6">
            <a:extLst>
              <a:ext uri="{FF2B5EF4-FFF2-40B4-BE49-F238E27FC236}">
                <a16:creationId xmlns:a16="http://schemas.microsoft.com/office/drawing/2014/main" id="{7CF27310-56F4-13A8-B1EF-E6BA8A08E73B}"/>
              </a:ext>
            </a:extLst>
          </p:cNvPr>
          <p:cNvSpPr>
            <a:spLocks noGrp="1"/>
          </p:cNvSpPr>
          <p:nvPr>
            <p:ph idx="1"/>
          </p:nvPr>
        </p:nvSpPr>
        <p:spPr/>
        <p:txBody>
          <a:bodyPr>
            <a:normAutofit/>
          </a:bodyPr>
          <a:lstStyle/>
          <a:p>
            <a:r>
              <a:rPr lang="en-US" sz="3000" b="1" dirty="0"/>
              <a:t>Project Title: </a:t>
            </a:r>
            <a:r>
              <a:rPr lang="en-US" sz="3000" dirty="0"/>
              <a:t>AI-Driven Polypharmacy Risk Prediction Using Graph Neural Networks</a:t>
            </a:r>
          </a:p>
          <a:p>
            <a:r>
              <a:rPr lang="en-US" sz="3000" b="1" dirty="0"/>
              <a:t>Domain/Area: 	</a:t>
            </a:r>
            <a:r>
              <a:rPr lang="en-US" sz="3000" dirty="0"/>
              <a:t>Artificial Intelligence, Machine Learning, Healthcare Analytics, Deep Learning.</a:t>
            </a:r>
          </a:p>
          <a:p>
            <a:r>
              <a:rPr lang="en-US" sz="3000" b="1" dirty="0"/>
              <a:t>Type: 	</a:t>
            </a:r>
            <a:r>
              <a:rPr lang="en-IN" sz="3000" dirty="0"/>
              <a:t>Research + Application Development</a:t>
            </a:r>
            <a:endParaRPr lang="en-US" sz="3000" dirty="0"/>
          </a:p>
          <a:p>
            <a:r>
              <a:rPr lang="en-US" sz="3000" b="1" dirty="0"/>
              <a:t>Keywords:	</a:t>
            </a:r>
            <a:r>
              <a:rPr lang="en-US" sz="3000" dirty="0"/>
              <a:t>Polypharmacy , Drug-Drug Interaction(DDI),Graph Neutral Network(GNN).</a:t>
            </a:r>
          </a:p>
          <a:p>
            <a:endParaRPr lang="en-IN" dirty="0"/>
          </a:p>
        </p:txBody>
      </p:sp>
      <p:sp>
        <p:nvSpPr>
          <p:cNvPr id="3" name="Footer Placeholder 2">
            <a:extLst>
              <a:ext uri="{FF2B5EF4-FFF2-40B4-BE49-F238E27FC236}">
                <a16:creationId xmlns:a16="http://schemas.microsoft.com/office/drawing/2014/main" id="{B64768DE-587D-DE97-B725-9F5DE6A49279}"/>
              </a:ext>
            </a:extLst>
          </p:cNvPr>
          <p:cNvSpPr>
            <a:spLocks noGrp="1"/>
          </p:cNvSpPr>
          <p:nvPr>
            <p:ph type="ftr" sz="quarter" idx="11"/>
          </p:nvPr>
        </p:nvSpPr>
        <p:spPr>
          <a:xfrm>
            <a:off x="2278965" y="6356350"/>
            <a:ext cx="4994031" cy="365125"/>
          </a:xfrm>
        </p:spPr>
        <p:txBody>
          <a:bodyPr/>
          <a:lstStyle/>
          <a:p>
            <a:r>
              <a:rPr lang="en-US" b="1" dirty="0"/>
              <a:t>Department of Computer Science and Engineering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32239-081A-9BA8-B986-07207EDEB7C4}"/>
              </a:ext>
            </a:extLst>
          </p:cNvPr>
          <p:cNvSpPr>
            <a:spLocks noGrp="1"/>
          </p:cNvSpPr>
          <p:nvPr>
            <p:ph type="title"/>
          </p:nvPr>
        </p:nvSpPr>
        <p:spPr/>
        <p:txBody>
          <a:bodyPr/>
          <a:lstStyle/>
          <a:p>
            <a:r>
              <a:rPr lang="en-IN" dirty="0"/>
              <a:t>PROJECT PLANNING</a:t>
            </a:r>
          </a:p>
        </p:txBody>
      </p:sp>
      <p:sp>
        <p:nvSpPr>
          <p:cNvPr id="3" name="Content Placeholder 2">
            <a:extLst>
              <a:ext uri="{FF2B5EF4-FFF2-40B4-BE49-F238E27FC236}">
                <a16:creationId xmlns:a16="http://schemas.microsoft.com/office/drawing/2014/main" id="{9DDC7234-D629-2DD3-A613-8BC376662C7C}"/>
              </a:ext>
            </a:extLst>
          </p:cNvPr>
          <p:cNvSpPr>
            <a:spLocks noGrp="1"/>
          </p:cNvSpPr>
          <p:nvPr>
            <p:ph idx="1"/>
          </p:nvPr>
        </p:nvSpPr>
        <p:spPr/>
        <p:txBody>
          <a:bodyPr/>
          <a:lstStyle/>
          <a:p>
            <a:r>
              <a:rPr lang="en-US" dirty="0"/>
              <a:t>Include a Gantt Chart covering:</a:t>
            </a:r>
          </a:p>
          <a:p>
            <a:r>
              <a:rPr lang="en-US" dirty="0"/>
              <a:t>- Research Phase</a:t>
            </a:r>
          </a:p>
          <a:p>
            <a:r>
              <a:rPr lang="en-US" dirty="0"/>
              <a:t>- Design Phase</a:t>
            </a:r>
          </a:p>
          <a:p>
            <a:r>
              <a:rPr lang="en-US" dirty="0"/>
              <a:t>- Implementation</a:t>
            </a:r>
          </a:p>
          <a:p>
            <a:r>
              <a:rPr lang="en-US" dirty="0"/>
              <a:t>- Testing</a:t>
            </a:r>
          </a:p>
          <a:p>
            <a:r>
              <a:rPr lang="en-US" dirty="0"/>
              <a:t>Recommended Tools: Excel / Canva / MS Project</a:t>
            </a:r>
          </a:p>
          <a:p>
            <a:endParaRPr lang="en-IN" dirty="0"/>
          </a:p>
        </p:txBody>
      </p:sp>
      <p:sp>
        <p:nvSpPr>
          <p:cNvPr id="4" name="Footer Placeholder 3">
            <a:extLst>
              <a:ext uri="{FF2B5EF4-FFF2-40B4-BE49-F238E27FC236}">
                <a16:creationId xmlns:a16="http://schemas.microsoft.com/office/drawing/2014/main" id="{8A2B68AE-B454-2F4D-9BA4-1E2E90C6DDBC}"/>
              </a:ext>
            </a:extLst>
          </p:cNvPr>
          <p:cNvSpPr>
            <a:spLocks noGrp="1"/>
          </p:cNvSpPr>
          <p:nvPr>
            <p:ph type="ftr" sz="quarter" idx="11"/>
          </p:nvPr>
        </p:nvSpPr>
        <p:spPr/>
        <p:txBody>
          <a:bodyPr/>
          <a:lstStyle/>
          <a:p>
            <a:r>
              <a:rPr lang="en-US"/>
              <a:t>Department of AIML &amp; AIDS</a:t>
            </a:r>
          </a:p>
        </p:txBody>
      </p:sp>
    </p:spTree>
    <p:extLst>
      <p:ext uri="{BB962C8B-B14F-4D97-AF65-F5344CB8AC3E}">
        <p14:creationId xmlns:p14="http://schemas.microsoft.com/office/powerpoint/2010/main" val="36074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IN" dirty="0"/>
              <a:t>PROJECT PLANNING</a:t>
            </a:r>
          </a:p>
        </p:txBody>
      </p:sp>
      <p:sp>
        <p:nvSpPr>
          <p:cNvPr id="7" name="Content Placeholder 6">
            <a:extLst>
              <a:ext uri="{FF2B5EF4-FFF2-40B4-BE49-F238E27FC236}">
                <a16:creationId xmlns:a16="http://schemas.microsoft.com/office/drawing/2014/main" id="{C954AD31-4BFC-484B-7B6C-70B45C856259}"/>
              </a:ext>
            </a:extLst>
          </p:cNvPr>
          <p:cNvSpPr>
            <a:spLocks noGrp="1"/>
          </p:cNvSpPr>
          <p:nvPr>
            <p:ph idx="1"/>
          </p:nvPr>
        </p:nvSpPr>
        <p:spPr/>
        <p:txBody>
          <a:bodyPr>
            <a:normAutofit/>
          </a:bodyPr>
          <a:lstStyle/>
          <a:p>
            <a:r>
              <a:rPr lang="en-US" dirty="0"/>
              <a:t>Gantt Chart </a:t>
            </a:r>
          </a:p>
          <a:p>
            <a:pPr marL="0" indent="0">
              <a:buNone/>
            </a:pPr>
            <a:endParaRPr lang="en-US" dirty="0"/>
          </a:p>
        </p:txBody>
      </p:sp>
      <p:sp>
        <p:nvSpPr>
          <p:cNvPr id="3" name="Footer Placeholder 2">
            <a:extLst>
              <a:ext uri="{FF2B5EF4-FFF2-40B4-BE49-F238E27FC236}">
                <a16:creationId xmlns:a16="http://schemas.microsoft.com/office/drawing/2014/main" id="{181D8E64-E73A-318D-234A-F0CDC815730A}"/>
              </a:ext>
            </a:extLst>
          </p:cNvPr>
          <p:cNvSpPr>
            <a:spLocks noGrp="1"/>
          </p:cNvSpPr>
          <p:nvPr>
            <p:ph type="ftr" sz="quarter" idx="11"/>
          </p:nvPr>
        </p:nvSpPr>
        <p:spPr>
          <a:xfrm>
            <a:off x="2208627" y="6356350"/>
            <a:ext cx="5078437" cy="365125"/>
          </a:xfrm>
        </p:spPr>
        <p:txBody>
          <a:bodyPr/>
          <a:lstStyle/>
          <a:p>
            <a:r>
              <a:rPr lang="en-US" b="1" dirty="0"/>
              <a:t>Department of Computer Science and Engineering</a:t>
            </a:r>
          </a:p>
        </p:txBody>
      </p:sp>
      <p:pic>
        <p:nvPicPr>
          <p:cNvPr id="6" name="Content Placeholder 5">
            <a:extLst>
              <a:ext uri="{FF2B5EF4-FFF2-40B4-BE49-F238E27FC236}">
                <a16:creationId xmlns:a16="http://schemas.microsoft.com/office/drawing/2014/main" id="{C5C89884-470B-D508-BA77-6D67A61C8E5D}"/>
              </a:ext>
            </a:extLst>
          </p:cNvPr>
          <p:cNvPicPr>
            <a:picLocks noChangeAspect="1"/>
          </p:cNvPicPr>
          <p:nvPr/>
        </p:nvPicPr>
        <p:blipFill>
          <a:blip r:embed="rId2"/>
          <a:stretch>
            <a:fillRect/>
          </a:stretch>
        </p:blipFill>
        <p:spPr>
          <a:xfrm>
            <a:off x="1629812" y="2022781"/>
            <a:ext cx="6788944" cy="41033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C6D61-DF33-C6A1-A809-CAE970AF041D}"/>
              </a:ext>
            </a:extLst>
          </p:cNvPr>
          <p:cNvSpPr>
            <a:spLocks noGrp="1"/>
          </p:cNvSpPr>
          <p:nvPr>
            <p:ph type="title"/>
          </p:nvPr>
        </p:nvSpPr>
        <p:spPr/>
        <p:txBody>
          <a:bodyPr>
            <a:normAutofit fontScale="90000"/>
          </a:bodyPr>
          <a:lstStyle/>
          <a:p>
            <a:r>
              <a:rPr lang="en-US" dirty="0"/>
              <a:t>Research Phase</a:t>
            </a:r>
            <a:br>
              <a:rPr lang="en-US" dirty="0"/>
            </a:br>
            <a:endParaRPr lang="en-IN" dirty="0"/>
          </a:p>
        </p:txBody>
      </p:sp>
      <p:sp>
        <p:nvSpPr>
          <p:cNvPr id="3" name="Content Placeholder 2">
            <a:extLst>
              <a:ext uri="{FF2B5EF4-FFF2-40B4-BE49-F238E27FC236}">
                <a16:creationId xmlns:a16="http://schemas.microsoft.com/office/drawing/2014/main" id="{90626AF9-892F-F449-903A-AA2CA04C5A2C}"/>
              </a:ext>
            </a:extLst>
          </p:cNvPr>
          <p:cNvSpPr>
            <a:spLocks noGrp="1"/>
          </p:cNvSpPr>
          <p:nvPr>
            <p:ph idx="1"/>
          </p:nvPr>
        </p:nvSpPr>
        <p:spPr/>
        <p:txBody>
          <a:bodyPr>
            <a:normAutofit fontScale="70000" lnSpcReduction="20000"/>
          </a:bodyPr>
          <a:lstStyle/>
          <a:p>
            <a:r>
              <a:rPr lang="en-US" dirty="0"/>
              <a:t>Through my research phase, I thoroughly studied the critical problem of polypharmacy and how it leads to adverse drug reactions in patients taking multiple medications. I explored existing drug interaction prediction systems like Micromedex, Lexicomp, and </a:t>
            </a:r>
            <a:r>
              <a:rPr lang="en-US" dirty="0" err="1"/>
              <a:t>DrugBank</a:t>
            </a:r>
            <a:r>
              <a:rPr lang="en-US" dirty="0"/>
              <a:t>, and quickly realized they rely on rule-based approaches that cannot predict novel drug combinations or personalize risk for individual patients.</a:t>
            </a:r>
          </a:p>
          <a:p>
            <a:endParaRPr lang="en-US" dirty="0"/>
          </a:p>
          <a:p>
            <a:r>
              <a:rPr lang="en-US" dirty="0"/>
              <a:t>I then reviewed multiple research papers on Machine Learning and Deep Learning approaches for DDI prediction. Traditional ML methods like Random Forest and SVM showed decent accuracy but required heavy manual feature engineering and couldn't capture the complex network relationships between drugs. This led me to explore Graph Neural Networks—a breakthrough approach that naturally represents drugs as nodes and interactions as edges.</a:t>
            </a:r>
          </a:p>
          <a:p>
            <a:endParaRPr lang="en-IN" dirty="0"/>
          </a:p>
        </p:txBody>
      </p:sp>
      <p:sp>
        <p:nvSpPr>
          <p:cNvPr id="4" name="Footer Placeholder 3">
            <a:extLst>
              <a:ext uri="{FF2B5EF4-FFF2-40B4-BE49-F238E27FC236}">
                <a16:creationId xmlns:a16="http://schemas.microsoft.com/office/drawing/2014/main" id="{084E5A06-5A1B-0D5A-3ADA-EEBD0A023638}"/>
              </a:ext>
            </a:extLst>
          </p:cNvPr>
          <p:cNvSpPr>
            <a:spLocks noGrp="1"/>
          </p:cNvSpPr>
          <p:nvPr>
            <p:ph type="ftr" sz="quarter" idx="11"/>
          </p:nvPr>
        </p:nvSpPr>
        <p:spPr/>
        <p:txBody>
          <a:bodyPr/>
          <a:lstStyle/>
          <a:p>
            <a:r>
              <a:rPr lang="en-US"/>
              <a:t>Department of AIML &amp; AIDS</a:t>
            </a:r>
          </a:p>
        </p:txBody>
      </p:sp>
    </p:spTree>
    <p:extLst>
      <p:ext uri="{BB962C8B-B14F-4D97-AF65-F5344CB8AC3E}">
        <p14:creationId xmlns:p14="http://schemas.microsoft.com/office/powerpoint/2010/main" val="994096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836B8-2BA6-1216-13C9-1D23AF26BC7A}"/>
              </a:ext>
            </a:extLst>
          </p:cNvPr>
          <p:cNvSpPr>
            <a:spLocks noGrp="1"/>
          </p:cNvSpPr>
          <p:nvPr>
            <p:ph type="title"/>
          </p:nvPr>
        </p:nvSpPr>
        <p:spPr/>
        <p:txBody>
          <a:bodyPr/>
          <a:lstStyle/>
          <a:p>
            <a:r>
              <a:rPr lang="en-IN" dirty="0"/>
              <a:t>Research Phase</a:t>
            </a:r>
          </a:p>
        </p:txBody>
      </p:sp>
      <p:sp>
        <p:nvSpPr>
          <p:cNvPr id="3" name="Content Placeholder 2">
            <a:extLst>
              <a:ext uri="{FF2B5EF4-FFF2-40B4-BE49-F238E27FC236}">
                <a16:creationId xmlns:a16="http://schemas.microsoft.com/office/drawing/2014/main" id="{7C17B7D8-4786-CE66-74C3-5CA83E77F756}"/>
              </a:ext>
            </a:extLst>
          </p:cNvPr>
          <p:cNvSpPr>
            <a:spLocks noGrp="1"/>
          </p:cNvSpPr>
          <p:nvPr>
            <p:ph idx="1"/>
          </p:nvPr>
        </p:nvSpPr>
        <p:spPr/>
        <p:txBody>
          <a:bodyPr/>
          <a:lstStyle/>
          <a:p>
            <a:r>
              <a:rPr lang="en-IN" dirty="0"/>
              <a:t>This comprehensive research helped me define a clear problem statement: developing an interpretable, multi-modal GNN framework that predicts drug-drug interactions with severity classification while providing explainable insights for clinical decision-making.</a:t>
            </a:r>
          </a:p>
        </p:txBody>
      </p:sp>
      <p:sp>
        <p:nvSpPr>
          <p:cNvPr id="4" name="Footer Placeholder 3">
            <a:extLst>
              <a:ext uri="{FF2B5EF4-FFF2-40B4-BE49-F238E27FC236}">
                <a16:creationId xmlns:a16="http://schemas.microsoft.com/office/drawing/2014/main" id="{B725EB8D-A624-B92D-CAC3-90297D8FBEF3}"/>
              </a:ext>
            </a:extLst>
          </p:cNvPr>
          <p:cNvSpPr>
            <a:spLocks noGrp="1"/>
          </p:cNvSpPr>
          <p:nvPr>
            <p:ph type="ftr" sz="quarter" idx="11"/>
          </p:nvPr>
        </p:nvSpPr>
        <p:spPr/>
        <p:txBody>
          <a:bodyPr/>
          <a:lstStyle/>
          <a:p>
            <a:r>
              <a:rPr lang="en-US"/>
              <a:t>Department of AIML &amp; AIDS</a:t>
            </a:r>
          </a:p>
        </p:txBody>
      </p:sp>
    </p:spTree>
    <p:extLst>
      <p:ext uri="{BB962C8B-B14F-4D97-AF65-F5344CB8AC3E}">
        <p14:creationId xmlns:p14="http://schemas.microsoft.com/office/powerpoint/2010/main" val="1233372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36ADD-3C4E-D121-F664-C485965D8D85}"/>
              </a:ext>
            </a:extLst>
          </p:cNvPr>
          <p:cNvSpPr>
            <a:spLocks noGrp="1"/>
          </p:cNvSpPr>
          <p:nvPr>
            <p:ph type="title"/>
          </p:nvPr>
        </p:nvSpPr>
        <p:spPr/>
        <p:txBody>
          <a:bodyPr/>
          <a:lstStyle/>
          <a:p>
            <a:r>
              <a:rPr lang="en-IN" dirty="0"/>
              <a:t>Design Phase</a:t>
            </a:r>
          </a:p>
        </p:txBody>
      </p:sp>
      <p:sp>
        <p:nvSpPr>
          <p:cNvPr id="3" name="Content Placeholder 2">
            <a:extLst>
              <a:ext uri="{FF2B5EF4-FFF2-40B4-BE49-F238E27FC236}">
                <a16:creationId xmlns:a16="http://schemas.microsoft.com/office/drawing/2014/main" id="{A7843EC1-094C-BA40-F320-8D5D1CDE785D}"/>
              </a:ext>
            </a:extLst>
          </p:cNvPr>
          <p:cNvSpPr>
            <a:spLocks noGrp="1"/>
          </p:cNvSpPr>
          <p:nvPr>
            <p:ph idx="1"/>
          </p:nvPr>
        </p:nvSpPr>
        <p:spPr/>
        <p:txBody>
          <a:bodyPr>
            <a:normAutofit fontScale="77500" lnSpcReduction="20000"/>
          </a:bodyPr>
          <a:lstStyle/>
          <a:p>
            <a:pPr marL="0" indent="0">
              <a:buNone/>
            </a:pPr>
            <a:r>
              <a:rPr lang="en-US" sz="3000" b="1" dirty="0"/>
              <a:t>Requirements Analysis:</a:t>
            </a:r>
          </a:p>
          <a:p>
            <a:pPr marL="0" indent="0">
              <a:buNone/>
            </a:pPr>
            <a:r>
              <a:rPr lang="en-US" sz="3000" b="1" dirty="0"/>
              <a:t>Functional Requirements</a:t>
            </a:r>
          </a:p>
          <a:p>
            <a:pPr marL="0" indent="0">
              <a:buNone/>
            </a:pPr>
            <a:r>
              <a:rPr lang="en-US" sz="3000" dirty="0"/>
              <a:t>	 User Authentication &amp; Management.</a:t>
            </a:r>
          </a:p>
          <a:p>
            <a:pPr marL="0" indent="0">
              <a:buNone/>
            </a:pPr>
            <a:r>
              <a:rPr lang="en-US" sz="3000" dirty="0"/>
              <a:t>	 Patient Data Management.</a:t>
            </a:r>
          </a:p>
          <a:p>
            <a:pPr marL="0" indent="0">
              <a:buNone/>
            </a:pPr>
            <a:r>
              <a:rPr lang="en-US" sz="3000" dirty="0"/>
              <a:t>	 Medication/Drug Input.</a:t>
            </a:r>
          </a:p>
          <a:p>
            <a:pPr marL="0" indent="0">
              <a:buNone/>
            </a:pPr>
            <a:r>
              <a:rPr lang="en-US" sz="3000" dirty="0"/>
              <a:t>	 Risk Prediction Engine.</a:t>
            </a:r>
          </a:p>
          <a:p>
            <a:pPr marL="0" indent="0">
              <a:buNone/>
            </a:pPr>
            <a:r>
              <a:rPr lang="en-US" sz="3000" dirty="0"/>
              <a:t>	 Explainability &amp; Interpretation.</a:t>
            </a:r>
          </a:p>
          <a:p>
            <a:pPr marL="0" indent="0">
              <a:buNone/>
            </a:pPr>
            <a:r>
              <a:rPr lang="en-US" sz="3000" dirty="0"/>
              <a:t>	 Alternative Drug Recommendations.</a:t>
            </a:r>
          </a:p>
          <a:p>
            <a:pPr marL="0" indent="0">
              <a:buNone/>
            </a:pPr>
            <a:r>
              <a:rPr lang="en-US" sz="3000" dirty="0"/>
              <a:t>	 Prediction History &amp; Tracking.</a:t>
            </a:r>
          </a:p>
          <a:p>
            <a:pPr marL="0" indent="0">
              <a:buNone/>
            </a:pPr>
            <a:r>
              <a:rPr lang="en-US" sz="3000" dirty="0"/>
              <a:t>	 Dashboard &amp; Analytics.</a:t>
            </a:r>
          </a:p>
          <a:p>
            <a:pPr marL="0" indent="0">
              <a:buNone/>
            </a:pPr>
            <a:r>
              <a:rPr lang="en-US" sz="3000" dirty="0"/>
              <a:t>	 Drug Database Management (Admin).</a:t>
            </a:r>
          </a:p>
          <a:p>
            <a:pPr marL="0" indent="0">
              <a:buNone/>
            </a:pPr>
            <a:r>
              <a:rPr lang="en-US" sz="3000" dirty="0"/>
              <a:t>	 User Management (Admin).</a:t>
            </a:r>
          </a:p>
          <a:p>
            <a:endParaRPr lang="en-US" sz="3000" dirty="0"/>
          </a:p>
          <a:p>
            <a:endParaRPr lang="en-US" sz="3000" dirty="0"/>
          </a:p>
        </p:txBody>
      </p:sp>
      <p:sp>
        <p:nvSpPr>
          <p:cNvPr id="4" name="Footer Placeholder 3">
            <a:extLst>
              <a:ext uri="{FF2B5EF4-FFF2-40B4-BE49-F238E27FC236}">
                <a16:creationId xmlns:a16="http://schemas.microsoft.com/office/drawing/2014/main" id="{2B03B661-DFA0-1E7D-BD7E-2B4CCA789E87}"/>
              </a:ext>
            </a:extLst>
          </p:cNvPr>
          <p:cNvSpPr>
            <a:spLocks noGrp="1"/>
          </p:cNvSpPr>
          <p:nvPr>
            <p:ph type="ftr" sz="quarter" idx="11"/>
          </p:nvPr>
        </p:nvSpPr>
        <p:spPr/>
        <p:txBody>
          <a:bodyPr/>
          <a:lstStyle/>
          <a:p>
            <a:r>
              <a:rPr lang="en-US"/>
              <a:t>Department of AIML &amp; AIDS</a:t>
            </a:r>
          </a:p>
        </p:txBody>
      </p:sp>
    </p:spTree>
    <p:extLst>
      <p:ext uri="{BB962C8B-B14F-4D97-AF65-F5344CB8AC3E}">
        <p14:creationId xmlns:p14="http://schemas.microsoft.com/office/powerpoint/2010/main" val="1286782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F0313-B82E-4815-6023-A52559F1B497}"/>
              </a:ext>
            </a:extLst>
          </p:cNvPr>
          <p:cNvSpPr>
            <a:spLocks noGrp="1"/>
          </p:cNvSpPr>
          <p:nvPr>
            <p:ph type="title"/>
          </p:nvPr>
        </p:nvSpPr>
        <p:spPr/>
        <p:txBody>
          <a:bodyPr/>
          <a:lstStyle/>
          <a:p>
            <a:r>
              <a:rPr lang="en-IN" dirty="0"/>
              <a:t>Design Phase</a:t>
            </a:r>
          </a:p>
        </p:txBody>
      </p:sp>
      <p:sp>
        <p:nvSpPr>
          <p:cNvPr id="3" name="Content Placeholder 2">
            <a:extLst>
              <a:ext uri="{FF2B5EF4-FFF2-40B4-BE49-F238E27FC236}">
                <a16:creationId xmlns:a16="http://schemas.microsoft.com/office/drawing/2014/main" id="{427F90AB-C72A-F781-2EF1-B543EB4EBCFF}"/>
              </a:ext>
            </a:extLst>
          </p:cNvPr>
          <p:cNvSpPr>
            <a:spLocks noGrp="1"/>
          </p:cNvSpPr>
          <p:nvPr>
            <p:ph idx="1"/>
          </p:nvPr>
        </p:nvSpPr>
        <p:spPr/>
        <p:txBody>
          <a:bodyPr>
            <a:normAutofit/>
          </a:bodyPr>
          <a:lstStyle/>
          <a:p>
            <a:r>
              <a:rPr lang="en-US" b="1" dirty="0"/>
              <a:t>Non-functional requirements :</a:t>
            </a:r>
          </a:p>
          <a:p>
            <a:pPr marL="0" indent="0">
              <a:buNone/>
            </a:pPr>
            <a:r>
              <a:rPr lang="en-US" dirty="0"/>
              <a:t>		Performance Requirements.</a:t>
            </a:r>
          </a:p>
          <a:p>
            <a:pPr marL="0" indent="0">
              <a:buNone/>
            </a:pPr>
            <a:r>
              <a:rPr lang="en-US" dirty="0"/>
              <a:t>		Scalability Requirements.</a:t>
            </a:r>
          </a:p>
          <a:p>
            <a:pPr marL="0" indent="0">
              <a:buNone/>
            </a:pPr>
            <a:r>
              <a:rPr lang="en-US" dirty="0"/>
              <a:t>		Availability &amp; Reliability.</a:t>
            </a:r>
          </a:p>
          <a:p>
            <a:pPr marL="0" indent="0">
              <a:buNone/>
            </a:pPr>
            <a:r>
              <a:rPr lang="en-US" dirty="0"/>
              <a:t>		Security Requirements.</a:t>
            </a:r>
          </a:p>
          <a:p>
            <a:pPr marL="0" indent="0">
              <a:buNone/>
            </a:pPr>
            <a:r>
              <a:rPr lang="en-US" dirty="0"/>
              <a:t>		Usability Requirements.</a:t>
            </a:r>
          </a:p>
          <a:p>
            <a:pPr marL="0" indent="0">
              <a:buNone/>
            </a:pPr>
            <a:r>
              <a:rPr lang="en-US" dirty="0"/>
              <a:t>		Maintainability Requirements</a:t>
            </a:r>
            <a:endParaRPr lang="en-IN" dirty="0"/>
          </a:p>
        </p:txBody>
      </p:sp>
      <p:sp>
        <p:nvSpPr>
          <p:cNvPr id="4" name="Footer Placeholder 3">
            <a:extLst>
              <a:ext uri="{FF2B5EF4-FFF2-40B4-BE49-F238E27FC236}">
                <a16:creationId xmlns:a16="http://schemas.microsoft.com/office/drawing/2014/main" id="{C64EAC4C-14B1-D0AE-7282-422E64840425}"/>
              </a:ext>
            </a:extLst>
          </p:cNvPr>
          <p:cNvSpPr>
            <a:spLocks noGrp="1"/>
          </p:cNvSpPr>
          <p:nvPr>
            <p:ph type="ftr" sz="quarter" idx="11"/>
          </p:nvPr>
        </p:nvSpPr>
        <p:spPr/>
        <p:txBody>
          <a:bodyPr/>
          <a:lstStyle/>
          <a:p>
            <a:r>
              <a:rPr lang="en-US"/>
              <a:t>Department of AIML &amp; AIDS</a:t>
            </a:r>
          </a:p>
        </p:txBody>
      </p:sp>
    </p:spTree>
    <p:extLst>
      <p:ext uri="{BB962C8B-B14F-4D97-AF65-F5344CB8AC3E}">
        <p14:creationId xmlns:p14="http://schemas.microsoft.com/office/powerpoint/2010/main" val="493064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DE44A-B7B6-9237-6D63-E01709A4EAC7}"/>
              </a:ext>
            </a:extLst>
          </p:cNvPr>
          <p:cNvSpPr>
            <a:spLocks noGrp="1"/>
          </p:cNvSpPr>
          <p:nvPr>
            <p:ph type="title"/>
          </p:nvPr>
        </p:nvSpPr>
        <p:spPr/>
        <p:txBody>
          <a:bodyPr/>
          <a:lstStyle/>
          <a:p>
            <a:r>
              <a:rPr lang="en-IN" dirty="0"/>
              <a:t>Design Phase</a:t>
            </a:r>
          </a:p>
        </p:txBody>
      </p:sp>
      <p:sp>
        <p:nvSpPr>
          <p:cNvPr id="3" name="Content Placeholder 2">
            <a:extLst>
              <a:ext uri="{FF2B5EF4-FFF2-40B4-BE49-F238E27FC236}">
                <a16:creationId xmlns:a16="http://schemas.microsoft.com/office/drawing/2014/main" id="{20904060-D893-8D40-D486-7AC37193057A}"/>
              </a:ext>
            </a:extLst>
          </p:cNvPr>
          <p:cNvSpPr>
            <a:spLocks noGrp="1"/>
          </p:cNvSpPr>
          <p:nvPr>
            <p:ph idx="1"/>
          </p:nvPr>
        </p:nvSpPr>
        <p:spPr/>
        <p:txBody>
          <a:bodyPr>
            <a:normAutofit fontScale="70000" lnSpcReduction="20000"/>
          </a:bodyPr>
          <a:lstStyle/>
          <a:p>
            <a:pPr marL="0" indent="0">
              <a:buNone/>
            </a:pPr>
            <a:r>
              <a:rPr lang="en-IN" b="1" dirty="0"/>
              <a:t>System Requirement’s:</a:t>
            </a:r>
          </a:p>
          <a:p>
            <a:pPr marL="0" indent="0">
              <a:buNone/>
            </a:pPr>
            <a:r>
              <a:rPr lang="en-IN" dirty="0"/>
              <a:t>	</a:t>
            </a:r>
            <a:r>
              <a:rPr lang="en-IN" b="1" dirty="0"/>
              <a:t>Hardware:</a:t>
            </a:r>
          </a:p>
          <a:p>
            <a:endParaRPr lang="en-IN" dirty="0"/>
          </a:p>
          <a:p>
            <a:pPr lvl="1"/>
            <a:r>
              <a:rPr lang="en-IN" dirty="0"/>
              <a:t>Development: 8GB RAM, i5 processor, optional GPU</a:t>
            </a:r>
          </a:p>
          <a:p>
            <a:pPr marL="457200" lvl="1" indent="0">
              <a:buNone/>
            </a:pPr>
            <a:r>
              <a:rPr lang="en-IN" dirty="0"/>
              <a:t>   Cloud: AWS/Azure/GCP options included.</a:t>
            </a:r>
          </a:p>
          <a:p>
            <a:endParaRPr lang="en-IN" dirty="0"/>
          </a:p>
          <a:p>
            <a:pPr marL="0" indent="0">
              <a:buNone/>
            </a:pPr>
            <a:r>
              <a:rPr lang="en-IN" b="1" dirty="0"/>
              <a:t>	Software:</a:t>
            </a:r>
          </a:p>
          <a:p>
            <a:pPr marL="0" indent="0">
              <a:buNone/>
            </a:pPr>
            <a:endParaRPr lang="en-IN" dirty="0"/>
          </a:p>
          <a:p>
            <a:pPr lvl="1"/>
            <a:r>
              <a:rPr lang="en-IN" dirty="0"/>
              <a:t>Languages: Python 3.10+, JavaScript ES6+, SQL, Cypher</a:t>
            </a:r>
          </a:p>
          <a:p>
            <a:pPr lvl="1"/>
            <a:r>
              <a:rPr lang="en-IN" dirty="0"/>
              <a:t>Backend: Flask/</a:t>
            </a:r>
            <a:r>
              <a:rPr lang="en-IN" dirty="0" err="1"/>
              <a:t>FastAPI</a:t>
            </a:r>
            <a:r>
              <a:rPr lang="en-IN" dirty="0"/>
              <a:t>, </a:t>
            </a:r>
            <a:r>
              <a:rPr lang="en-IN" dirty="0" err="1"/>
              <a:t>PyTorch</a:t>
            </a:r>
            <a:r>
              <a:rPr lang="en-IN" dirty="0"/>
              <a:t>, </a:t>
            </a:r>
            <a:r>
              <a:rPr lang="en-IN" dirty="0" err="1"/>
              <a:t>PyTorch</a:t>
            </a:r>
            <a:r>
              <a:rPr lang="en-IN" dirty="0"/>
              <a:t> Geometric</a:t>
            </a:r>
          </a:p>
          <a:p>
            <a:pPr lvl="1"/>
            <a:r>
              <a:rPr lang="en-IN" dirty="0"/>
              <a:t>Frontend: React 18+, Bootstrap/MUI, Chart.js</a:t>
            </a:r>
          </a:p>
          <a:p>
            <a:pPr lvl="1"/>
            <a:r>
              <a:rPr lang="en-IN" dirty="0"/>
              <a:t>Databases: PostgreSQL 15, Neo4j 5, Redis 7</a:t>
            </a:r>
          </a:p>
          <a:p>
            <a:pPr lvl="1"/>
            <a:r>
              <a:rPr lang="en-IN" dirty="0"/>
              <a:t>Tools: VS Code, Docker, Git, Postman, Canva</a:t>
            </a:r>
          </a:p>
        </p:txBody>
      </p:sp>
      <p:sp>
        <p:nvSpPr>
          <p:cNvPr id="4" name="Footer Placeholder 3">
            <a:extLst>
              <a:ext uri="{FF2B5EF4-FFF2-40B4-BE49-F238E27FC236}">
                <a16:creationId xmlns:a16="http://schemas.microsoft.com/office/drawing/2014/main" id="{33FD09F0-0150-3DA8-A2E1-A27A1E7134B5}"/>
              </a:ext>
            </a:extLst>
          </p:cNvPr>
          <p:cNvSpPr>
            <a:spLocks noGrp="1"/>
          </p:cNvSpPr>
          <p:nvPr>
            <p:ph type="ftr" sz="quarter" idx="11"/>
          </p:nvPr>
        </p:nvSpPr>
        <p:spPr/>
        <p:txBody>
          <a:bodyPr/>
          <a:lstStyle/>
          <a:p>
            <a:r>
              <a:rPr lang="en-US"/>
              <a:t>Department of AIML &amp; AIDS</a:t>
            </a:r>
          </a:p>
        </p:txBody>
      </p:sp>
    </p:spTree>
    <p:extLst>
      <p:ext uri="{BB962C8B-B14F-4D97-AF65-F5344CB8AC3E}">
        <p14:creationId xmlns:p14="http://schemas.microsoft.com/office/powerpoint/2010/main" val="2798479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E2C26-3C2A-E174-F0E3-D49EE259416E}"/>
              </a:ext>
            </a:extLst>
          </p:cNvPr>
          <p:cNvSpPr>
            <a:spLocks noGrp="1"/>
          </p:cNvSpPr>
          <p:nvPr>
            <p:ph type="title"/>
          </p:nvPr>
        </p:nvSpPr>
        <p:spPr/>
        <p:txBody>
          <a:bodyPr/>
          <a:lstStyle/>
          <a:p>
            <a:r>
              <a:rPr lang="en-IN" dirty="0"/>
              <a:t>Design Phase</a:t>
            </a:r>
          </a:p>
        </p:txBody>
      </p:sp>
      <p:pic>
        <p:nvPicPr>
          <p:cNvPr id="6" name="Content Placeholder 5">
            <a:extLst>
              <a:ext uri="{FF2B5EF4-FFF2-40B4-BE49-F238E27FC236}">
                <a16:creationId xmlns:a16="http://schemas.microsoft.com/office/drawing/2014/main" id="{6142394B-042D-7917-9549-28022FAA5EC9}"/>
              </a:ext>
            </a:extLst>
          </p:cNvPr>
          <p:cNvPicPr>
            <a:picLocks noGrp="1" noChangeAspect="1"/>
          </p:cNvPicPr>
          <p:nvPr>
            <p:ph idx="1"/>
          </p:nvPr>
        </p:nvPicPr>
        <p:blipFill>
          <a:blip r:embed="rId2"/>
          <a:stretch>
            <a:fillRect/>
          </a:stretch>
        </p:blipFill>
        <p:spPr>
          <a:xfrm>
            <a:off x="875071" y="1082238"/>
            <a:ext cx="7482347" cy="5043925"/>
          </a:xfrm>
        </p:spPr>
      </p:pic>
      <p:sp>
        <p:nvSpPr>
          <p:cNvPr id="4" name="Footer Placeholder 3">
            <a:extLst>
              <a:ext uri="{FF2B5EF4-FFF2-40B4-BE49-F238E27FC236}">
                <a16:creationId xmlns:a16="http://schemas.microsoft.com/office/drawing/2014/main" id="{233BD9F2-CAF8-0473-9C13-BA167D100304}"/>
              </a:ext>
            </a:extLst>
          </p:cNvPr>
          <p:cNvSpPr>
            <a:spLocks noGrp="1"/>
          </p:cNvSpPr>
          <p:nvPr>
            <p:ph type="ftr" sz="quarter" idx="11"/>
          </p:nvPr>
        </p:nvSpPr>
        <p:spPr/>
        <p:txBody>
          <a:bodyPr/>
          <a:lstStyle/>
          <a:p>
            <a:r>
              <a:rPr lang="en-US"/>
              <a:t>Department of AIML &amp; AIDS</a:t>
            </a:r>
          </a:p>
        </p:txBody>
      </p:sp>
    </p:spTree>
    <p:extLst>
      <p:ext uri="{BB962C8B-B14F-4D97-AF65-F5344CB8AC3E}">
        <p14:creationId xmlns:p14="http://schemas.microsoft.com/office/powerpoint/2010/main" val="675765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3429"/>
          </a:xfrm>
        </p:spPr>
        <p:txBody>
          <a:bodyPr>
            <a:noAutofit/>
          </a:bodyPr>
          <a:lstStyle/>
          <a:p>
            <a:br>
              <a:rPr lang="en-IN" dirty="0"/>
            </a:br>
            <a:r>
              <a:rPr lang="en-IN" dirty="0"/>
              <a:t>BACKGROUND RESEARCH</a:t>
            </a:r>
          </a:p>
        </p:txBody>
      </p:sp>
      <p:sp>
        <p:nvSpPr>
          <p:cNvPr id="9" name="Content Placeholder 8">
            <a:extLst>
              <a:ext uri="{FF2B5EF4-FFF2-40B4-BE49-F238E27FC236}">
                <a16:creationId xmlns:a16="http://schemas.microsoft.com/office/drawing/2014/main" id="{644C6200-7F8C-6552-9D91-86325FE7C473}"/>
              </a:ext>
            </a:extLst>
          </p:cNvPr>
          <p:cNvSpPr>
            <a:spLocks noGrp="1"/>
          </p:cNvSpPr>
          <p:nvPr>
            <p:ph idx="1"/>
          </p:nvPr>
        </p:nvSpPr>
        <p:spPr>
          <a:xfrm>
            <a:off x="457200" y="1879600"/>
            <a:ext cx="8229600" cy="4476750"/>
          </a:xfrm>
        </p:spPr>
        <p:txBody>
          <a:bodyPr>
            <a:normAutofit lnSpcReduction="10000"/>
          </a:bodyPr>
          <a:lstStyle/>
          <a:p>
            <a:r>
              <a:rPr lang="en-US" sz="3000" b="1" dirty="0"/>
              <a:t> Micromedex Drug Interaction Checker– </a:t>
            </a:r>
            <a:r>
              <a:rPr lang="en-US" sz="3000" dirty="0"/>
              <a:t>Rule-based clinical decision support system– Widely used in hospitals.</a:t>
            </a:r>
          </a:p>
          <a:p>
            <a:r>
              <a:rPr lang="en-US" sz="3000" b="1" dirty="0"/>
              <a:t> Lexicomp Drug Interactions– </a:t>
            </a:r>
            <a:r>
              <a:rPr lang="en-US" sz="3000" dirty="0"/>
              <a:t>Provides interaction severity and recommendations</a:t>
            </a:r>
          </a:p>
          <a:p>
            <a:pPr marL="0" indent="0">
              <a:buNone/>
            </a:pPr>
            <a:r>
              <a:rPr lang="en-US" sz="3000" dirty="0"/>
              <a:t>    mainly pairwise drug interaction analysis.</a:t>
            </a:r>
          </a:p>
          <a:p>
            <a:r>
              <a:rPr lang="en-US" sz="3000" b="1" dirty="0"/>
              <a:t> IBM Watson for Drug Discovery– </a:t>
            </a:r>
            <a:r>
              <a:rPr lang="en-US" sz="3000" dirty="0"/>
              <a:t>Uses AI for drug discovery and safety analysis not personalized for individual patient condition.</a:t>
            </a:r>
          </a:p>
        </p:txBody>
      </p:sp>
      <p:sp>
        <p:nvSpPr>
          <p:cNvPr id="3" name="Footer Placeholder 2">
            <a:extLst>
              <a:ext uri="{FF2B5EF4-FFF2-40B4-BE49-F238E27FC236}">
                <a16:creationId xmlns:a16="http://schemas.microsoft.com/office/drawing/2014/main" id="{412BC60A-965B-FDE1-923B-150BCE3030EA}"/>
              </a:ext>
            </a:extLst>
          </p:cNvPr>
          <p:cNvSpPr>
            <a:spLocks noGrp="1"/>
          </p:cNvSpPr>
          <p:nvPr>
            <p:ph type="ftr" sz="quarter" idx="11"/>
          </p:nvPr>
        </p:nvSpPr>
        <p:spPr>
          <a:xfrm>
            <a:off x="2208628" y="6356350"/>
            <a:ext cx="4754880" cy="365125"/>
          </a:xfrm>
        </p:spPr>
        <p:txBody>
          <a:bodyPr/>
          <a:lstStyle/>
          <a:p>
            <a:r>
              <a:rPr lang="en-US" b="1" dirty="0"/>
              <a:t>Department of Computer Science and Engineering</a:t>
            </a:r>
          </a:p>
        </p:txBody>
      </p:sp>
      <p:sp>
        <p:nvSpPr>
          <p:cNvPr id="4" name="object 2">
            <a:extLst>
              <a:ext uri="{FF2B5EF4-FFF2-40B4-BE49-F238E27FC236}">
                <a16:creationId xmlns:a16="http://schemas.microsoft.com/office/drawing/2014/main" id="{E6AC7876-D801-5E37-8D37-61F154FFCC8E}"/>
              </a:ext>
            </a:extLst>
          </p:cNvPr>
          <p:cNvSpPr/>
          <p:nvPr/>
        </p:nvSpPr>
        <p:spPr>
          <a:xfrm>
            <a:off x="67733" y="1247828"/>
            <a:ext cx="9008534" cy="465613"/>
          </a:xfrm>
          <a:custGeom>
            <a:avLst/>
            <a:gdLst/>
            <a:ahLst/>
            <a:cxnLst/>
            <a:rect l="l" t="t" r="r" b="b"/>
            <a:pathLst>
              <a:path w="5760085" h="350520">
                <a:moveTo>
                  <a:pt x="5759996" y="0"/>
                </a:moveTo>
                <a:lnTo>
                  <a:pt x="0" y="0"/>
                </a:lnTo>
                <a:lnTo>
                  <a:pt x="0" y="350126"/>
                </a:lnTo>
                <a:lnTo>
                  <a:pt x="5759996" y="350126"/>
                </a:lnTo>
                <a:lnTo>
                  <a:pt x="5759996" y="0"/>
                </a:lnTo>
                <a:close/>
              </a:path>
            </a:pathLst>
          </a:custGeom>
          <a:solidFill>
            <a:srgbClr val="4681B4"/>
          </a:solidFill>
        </p:spPr>
        <p:txBody>
          <a:bodyPr wrap="square" lIns="0" tIns="0" rIns="0" bIns="0" rtlCol="0"/>
          <a:lstStyle/>
          <a:p>
            <a:r>
              <a:rPr lang="en-US" sz="2800" dirty="0"/>
              <a:t>    Existing Solutions</a:t>
            </a:r>
            <a:endParaRPr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EE6C0-D04E-754A-DB9C-76F32AC85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7396C-4226-9ED1-57FB-DE30DE1F4295}"/>
              </a:ext>
            </a:extLst>
          </p:cNvPr>
          <p:cNvSpPr>
            <a:spLocks noGrp="1"/>
          </p:cNvSpPr>
          <p:nvPr>
            <p:ph type="title"/>
          </p:nvPr>
        </p:nvSpPr>
        <p:spPr>
          <a:xfrm>
            <a:off x="457200" y="274638"/>
            <a:ext cx="8229600" cy="368829"/>
          </a:xfrm>
        </p:spPr>
        <p:txBody>
          <a:bodyPr>
            <a:noAutofit/>
          </a:bodyPr>
          <a:lstStyle/>
          <a:p>
            <a:br>
              <a:rPr lang="en-IN" dirty="0"/>
            </a:br>
            <a:r>
              <a:rPr lang="en-IN" dirty="0"/>
              <a:t>BACKGROUND RESEARCH</a:t>
            </a:r>
          </a:p>
        </p:txBody>
      </p:sp>
      <p:sp>
        <p:nvSpPr>
          <p:cNvPr id="9" name="Content Placeholder 8">
            <a:extLst>
              <a:ext uri="{FF2B5EF4-FFF2-40B4-BE49-F238E27FC236}">
                <a16:creationId xmlns:a16="http://schemas.microsoft.com/office/drawing/2014/main" id="{45376629-725A-6CC4-3DF9-2620AE45F429}"/>
              </a:ext>
            </a:extLst>
          </p:cNvPr>
          <p:cNvSpPr>
            <a:spLocks noGrp="1"/>
          </p:cNvSpPr>
          <p:nvPr>
            <p:ph idx="1"/>
          </p:nvPr>
        </p:nvSpPr>
        <p:spPr>
          <a:xfrm>
            <a:off x="457200" y="1600200"/>
            <a:ext cx="8229600" cy="4919133"/>
          </a:xfrm>
        </p:spPr>
        <p:txBody>
          <a:bodyPr>
            <a:normAutofit fontScale="47500" lnSpcReduction="20000"/>
          </a:bodyPr>
          <a:lstStyle/>
          <a:p>
            <a:pPr>
              <a:buFont typeface="Arial" panose="020B0604020202020204" pitchFamily="34" charset="0"/>
              <a:buChar char="•"/>
            </a:pPr>
            <a:endParaRPr lang="en-US" dirty="0"/>
          </a:p>
          <a:p>
            <a:pPr>
              <a:buFont typeface="Arial" panose="020B0604020202020204" pitchFamily="34" charset="0"/>
              <a:buChar char="•"/>
            </a:pPr>
            <a:r>
              <a:rPr lang="en-IN" sz="3900" b="1" dirty="0"/>
              <a:t> </a:t>
            </a:r>
            <a:r>
              <a:rPr lang="en-IN" sz="5500" b="1" dirty="0"/>
              <a:t>Complex drug interaction networks</a:t>
            </a:r>
          </a:p>
          <a:p>
            <a:pPr marL="0" indent="0">
              <a:buNone/>
            </a:pPr>
            <a:r>
              <a:rPr lang="en-IN" sz="5500" dirty="0"/>
              <a:t> 	Multiple drugs interact simultaneously– Effects are 	non-linear and cumulative.</a:t>
            </a:r>
          </a:p>
          <a:p>
            <a:pPr>
              <a:buFont typeface="Arial" panose="020B0604020202020204" pitchFamily="34" charset="0"/>
              <a:buChar char="•"/>
            </a:pPr>
            <a:r>
              <a:rPr lang="en-IN" sz="5500" dirty="0"/>
              <a:t> </a:t>
            </a:r>
            <a:r>
              <a:rPr lang="en-IN" sz="5500" b="1" dirty="0"/>
              <a:t>Lack of patient personalization</a:t>
            </a:r>
          </a:p>
          <a:p>
            <a:pPr marL="0" indent="0">
              <a:buNone/>
            </a:pPr>
            <a:r>
              <a:rPr lang="en-IN" sz="5500" dirty="0"/>
              <a:t>	 Same drug combination behaves differently– Age, 	organ function, and comorbidities ignored.</a:t>
            </a:r>
          </a:p>
          <a:p>
            <a:pPr>
              <a:buFont typeface="Arial" panose="020B0604020202020204" pitchFamily="34" charset="0"/>
              <a:buChar char="•"/>
            </a:pPr>
            <a:r>
              <a:rPr lang="en-IN" sz="5500" b="1" dirty="0"/>
              <a:t> Data heterogeneity</a:t>
            </a:r>
          </a:p>
          <a:p>
            <a:pPr marL="0" indent="0">
              <a:buNone/>
            </a:pPr>
            <a:r>
              <a:rPr lang="en-IN" sz="5500" dirty="0"/>
              <a:t> 	Drug data, clinical data, lab reports in different 	formats.</a:t>
            </a:r>
          </a:p>
          <a:p>
            <a:pPr>
              <a:buFont typeface="Arial" panose="020B0604020202020204" pitchFamily="34" charset="0"/>
              <a:buChar char="•"/>
            </a:pPr>
            <a:r>
              <a:rPr lang="en-IN" sz="5500" b="1" dirty="0"/>
              <a:t> Rare but dangerous interactions</a:t>
            </a:r>
          </a:p>
          <a:p>
            <a:pPr marL="0" indent="0">
              <a:buNone/>
            </a:pPr>
            <a:r>
              <a:rPr lang="en-IN" sz="5500" dirty="0"/>
              <a:t>	Insufficient data for rare drug combinations.</a:t>
            </a:r>
          </a:p>
        </p:txBody>
      </p:sp>
      <p:sp>
        <p:nvSpPr>
          <p:cNvPr id="3" name="Footer Placeholder 2">
            <a:extLst>
              <a:ext uri="{FF2B5EF4-FFF2-40B4-BE49-F238E27FC236}">
                <a16:creationId xmlns:a16="http://schemas.microsoft.com/office/drawing/2014/main" id="{AD17D415-6FB6-4C22-3B31-B9E975EE9A74}"/>
              </a:ext>
            </a:extLst>
          </p:cNvPr>
          <p:cNvSpPr>
            <a:spLocks noGrp="1"/>
          </p:cNvSpPr>
          <p:nvPr>
            <p:ph type="ftr" sz="quarter" idx="11"/>
          </p:nvPr>
        </p:nvSpPr>
        <p:spPr>
          <a:xfrm>
            <a:off x="2208628" y="6356350"/>
            <a:ext cx="4754880" cy="365125"/>
          </a:xfrm>
        </p:spPr>
        <p:txBody>
          <a:bodyPr/>
          <a:lstStyle/>
          <a:p>
            <a:r>
              <a:rPr lang="en-US" b="1" dirty="0"/>
              <a:t>Department of Computer Science and Engineering</a:t>
            </a:r>
          </a:p>
        </p:txBody>
      </p:sp>
      <p:sp>
        <p:nvSpPr>
          <p:cNvPr id="4" name="object 2">
            <a:extLst>
              <a:ext uri="{FF2B5EF4-FFF2-40B4-BE49-F238E27FC236}">
                <a16:creationId xmlns:a16="http://schemas.microsoft.com/office/drawing/2014/main" id="{83A0C43D-DCA8-ECFB-E42C-5F3DA988AF5C}"/>
              </a:ext>
            </a:extLst>
          </p:cNvPr>
          <p:cNvSpPr/>
          <p:nvPr/>
        </p:nvSpPr>
        <p:spPr>
          <a:xfrm>
            <a:off x="67733" y="1247827"/>
            <a:ext cx="9008534" cy="465613"/>
          </a:xfrm>
          <a:custGeom>
            <a:avLst/>
            <a:gdLst/>
            <a:ahLst/>
            <a:cxnLst/>
            <a:rect l="l" t="t" r="r" b="b"/>
            <a:pathLst>
              <a:path w="5760085" h="350520">
                <a:moveTo>
                  <a:pt x="5759996" y="0"/>
                </a:moveTo>
                <a:lnTo>
                  <a:pt x="0" y="0"/>
                </a:lnTo>
                <a:lnTo>
                  <a:pt x="0" y="350126"/>
                </a:lnTo>
                <a:lnTo>
                  <a:pt x="5759996" y="350126"/>
                </a:lnTo>
                <a:lnTo>
                  <a:pt x="5759996" y="0"/>
                </a:lnTo>
                <a:close/>
              </a:path>
            </a:pathLst>
          </a:custGeom>
          <a:solidFill>
            <a:srgbClr val="4681B4"/>
          </a:solidFill>
        </p:spPr>
        <p:txBody>
          <a:bodyPr wrap="square" lIns="0" tIns="0" rIns="0" bIns="0" rtlCol="0"/>
          <a:lstStyle/>
          <a:p>
            <a:r>
              <a:rPr lang="en-US" sz="2800" dirty="0"/>
              <a:t>    Challenges</a:t>
            </a:r>
            <a:endParaRPr sz="2800" dirty="0"/>
          </a:p>
        </p:txBody>
      </p:sp>
    </p:spTree>
    <p:extLst>
      <p:ext uri="{BB962C8B-B14F-4D97-AF65-F5344CB8AC3E}">
        <p14:creationId xmlns:p14="http://schemas.microsoft.com/office/powerpoint/2010/main" val="766719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BCE66-5DE2-9BA6-D243-314834FCC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7B728-0742-4875-BAEC-F3ACFA33C291}"/>
              </a:ext>
            </a:extLst>
          </p:cNvPr>
          <p:cNvSpPr>
            <a:spLocks noGrp="1"/>
          </p:cNvSpPr>
          <p:nvPr>
            <p:ph type="title"/>
          </p:nvPr>
        </p:nvSpPr>
        <p:spPr>
          <a:xfrm>
            <a:off x="457200" y="274638"/>
            <a:ext cx="8229600" cy="45719"/>
          </a:xfrm>
        </p:spPr>
        <p:txBody>
          <a:bodyPr>
            <a:noAutofit/>
          </a:bodyPr>
          <a:lstStyle/>
          <a:p>
            <a:br>
              <a:rPr lang="en-IN" dirty="0"/>
            </a:br>
            <a:r>
              <a:rPr lang="en-IN" dirty="0"/>
              <a:t>BACKGROUND RESEARCH</a:t>
            </a:r>
          </a:p>
        </p:txBody>
      </p:sp>
      <p:sp>
        <p:nvSpPr>
          <p:cNvPr id="9" name="Content Placeholder 8">
            <a:extLst>
              <a:ext uri="{FF2B5EF4-FFF2-40B4-BE49-F238E27FC236}">
                <a16:creationId xmlns:a16="http://schemas.microsoft.com/office/drawing/2014/main" id="{0CDFFB9C-60B9-AD75-369D-12F1C4F5C545}"/>
              </a:ext>
            </a:extLst>
          </p:cNvPr>
          <p:cNvSpPr>
            <a:spLocks noGrp="1"/>
          </p:cNvSpPr>
          <p:nvPr>
            <p:ph idx="1"/>
          </p:nvPr>
        </p:nvSpPr>
        <p:spPr/>
        <p:txBody>
          <a:bodyPr>
            <a:normAutofit/>
          </a:bodyPr>
          <a:lstStyle/>
          <a:p>
            <a:pPr algn="just"/>
            <a:r>
              <a:rPr lang="en-US" sz="2000" dirty="0"/>
              <a:t>Existing drug interaction systems mainly use rule-based methods to detect known drug–drug interactions but struggle with complex polypharmacy cases and lack patient-specific personalization. Polypharmacy involves non-linear interactions influenced by age, organ function, and comorbidities, making accurate prediction challenging. These limitations motivate the use of Graph Neural Networks to model complex drug relationships and generate personalized, explainable risk predictions for improved medication safety.</a:t>
            </a:r>
          </a:p>
          <a:p>
            <a:pPr algn="just"/>
            <a:endParaRPr lang="en-IN" sz="2000" dirty="0"/>
          </a:p>
        </p:txBody>
      </p:sp>
      <p:sp>
        <p:nvSpPr>
          <p:cNvPr id="3" name="Footer Placeholder 2">
            <a:extLst>
              <a:ext uri="{FF2B5EF4-FFF2-40B4-BE49-F238E27FC236}">
                <a16:creationId xmlns:a16="http://schemas.microsoft.com/office/drawing/2014/main" id="{CEF07B96-9C8A-2D8C-302B-E9FFEFAA663D}"/>
              </a:ext>
            </a:extLst>
          </p:cNvPr>
          <p:cNvSpPr>
            <a:spLocks noGrp="1"/>
          </p:cNvSpPr>
          <p:nvPr>
            <p:ph type="ftr" sz="quarter" idx="11"/>
          </p:nvPr>
        </p:nvSpPr>
        <p:spPr>
          <a:xfrm>
            <a:off x="2208628" y="6356350"/>
            <a:ext cx="4754880" cy="365125"/>
          </a:xfrm>
        </p:spPr>
        <p:txBody>
          <a:bodyPr/>
          <a:lstStyle/>
          <a:p>
            <a:r>
              <a:rPr lang="en-US" b="1" dirty="0"/>
              <a:t>Department of Computer Science and Engineering</a:t>
            </a:r>
          </a:p>
        </p:txBody>
      </p:sp>
      <p:sp>
        <p:nvSpPr>
          <p:cNvPr id="4" name="object 2">
            <a:extLst>
              <a:ext uri="{FF2B5EF4-FFF2-40B4-BE49-F238E27FC236}">
                <a16:creationId xmlns:a16="http://schemas.microsoft.com/office/drawing/2014/main" id="{3B08B65D-653B-9212-7A4B-6FC62916EAC5}"/>
              </a:ext>
            </a:extLst>
          </p:cNvPr>
          <p:cNvSpPr/>
          <p:nvPr/>
        </p:nvSpPr>
        <p:spPr>
          <a:xfrm>
            <a:off x="67733" y="1015020"/>
            <a:ext cx="9008534" cy="465613"/>
          </a:xfrm>
          <a:custGeom>
            <a:avLst/>
            <a:gdLst/>
            <a:ahLst/>
            <a:cxnLst/>
            <a:rect l="l" t="t" r="r" b="b"/>
            <a:pathLst>
              <a:path w="5760085" h="350520">
                <a:moveTo>
                  <a:pt x="5759996" y="0"/>
                </a:moveTo>
                <a:lnTo>
                  <a:pt x="0" y="0"/>
                </a:lnTo>
                <a:lnTo>
                  <a:pt x="0" y="350126"/>
                </a:lnTo>
                <a:lnTo>
                  <a:pt x="5759996" y="350126"/>
                </a:lnTo>
                <a:lnTo>
                  <a:pt x="5759996" y="0"/>
                </a:lnTo>
                <a:close/>
              </a:path>
            </a:pathLst>
          </a:custGeom>
          <a:solidFill>
            <a:srgbClr val="4681B4"/>
          </a:solidFill>
        </p:spPr>
        <p:txBody>
          <a:bodyPr wrap="square" lIns="0" tIns="0" rIns="0" bIns="0" rtlCol="0"/>
          <a:lstStyle/>
          <a:p>
            <a:r>
              <a:rPr lang="en-US" sz="2800" dirty="0"/>
              <a:t>    Motivation</a:t>
            </a:r>
            <a:endParaRPr sz="2800" dirty="0"/>
          </a:p>
        </p:txBody>
      </p:sp>
      <p:pic>
        <p:nvPicPr>
          <p:cNvPr id="6" name="Picture 5">
            <a:extLst>
              <a:ext uri="{FF2B5EF4-FFF2-40B4-BE49-F238E27FC236}">
                <a16:creationId xmlns:a16="http://schemas.microsoft.com/office/drawing/2014/main" id="{D64120BD-9972-A0F0-99C1-E38F9BAD8B67}"/>
              </a:ext>
            </a:extLst>
          </p:cNvPr>
          <p:cNvPicPr>
            <a:picLocks noChangeAspect="1"/>
          </p:cNvPicPr>
          <p:nvPr/>
        </p:nvPicPr>
        <p:blipFill>
          <a:blip r:embed="rId2"/>
          <a:stretch>
            <a:fillRect/>
          </a:stretch>
        </p:blipFill>
        <p:spPr>
          <a:xfrm>
            <a:off x="147484" y="4198374"/>
            <a:ext cx="3824748" cy="2157976"/>
          </a:xfrm>
          <a:prstGeom prst="rect">
            <a:avLst/>
          </a:prstGeom>
        </p:spPr>
      </p:pic>
      <p:pic>
        <p:nvPicPr>
          <p:cNvPr id="8" name="Picture 7">
            <a:extLst>
              <a:ext uri="{FF2B5EF4-FFF2-40B4-BE49-F238E27FC236}">
                <a16:creationId xmlns:a16="http://schemas.microsoft.com/office/drawing/2014/main" id="{89359372-91BD-0E97-E226-231EDCE9A3A1}"/>
              </a:ext>
            </a:extLst>
          </p:cNvPr>
          <p:cNvPicPr>
            <a:picLocks noChangeAspect="1"/>
          </p:cNvPicPr>
          <p:nvPr/>
        </p:nvPicPr>
        <p:blipFill>
          <a:blip r:embed="rId3"/>
          <a:stretch>
            <a:fillRect/>
          </a:stretch>
        </p:blipFill>
        <p:spPr>
          <a:xfrm>
            <a:off x="4060723" y="4198374"/>
            <a:ext cx="4896464" cy="2157976"/>
          </a:xfrm>
          <a:prstGeom prst="rect">
            <a:avLst/>
          </a:prstGeom>
        </p:spPr>
      </p:pic>
    </p:spTree>
    <p:extLst>
      <p:ext uri="{BB962C8B-B14F-4D97-AF65-F5344CB8AC3E}">
        <p14:creationId xmlns:p14="http://schemas.microsoft.com/office/powerpoint/2010/main" val="2160716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IN" dirty="0"/>
              <a:t>LITERATURE SURVEY</a:t>
            </a:r>
          </a:p>
        </p:txBody>
      </p:sp>
      <p:graphicFrame>
        <p:nvGraphicFramePr>
          <p:cNvPr id="8" name="Content Placeholder 7">
            <a:extLst>
              <a:ext uri="{FF2B5EF4-FFF2-40B4-BE49-F238E27FC236}">
                <a16:creationId xmlns:a16="http://schemas.microsoft.com/office/drawing/2014/main" id="{759FE734-CC42-C885-5CCA-3774AA794BFD}"/>
              </a:ext>
            </a:extLst>
          </p:cNvPr>
          <p:cNvGraphicFramePr>
            <a:graphicFrameLocks noGrp="1"/>
          </p:cNvGraphicFramePr>
          <p:nvPr>
            <p:ph idx="1"/>
            <p:extLst>
              <p:ext uri="{D42A27DB-BD31-4B8C-83A1-F6EECF244321}">
                <p14:modId xmlns:p14="http://schemas.microsoft.com/office/powerpoint/2010/main" val="1410734724"/>
              </p:ext>
            </p:extLst>
          </p:nvPr>
        </p:nvGraphicFramePr>
        <p:xfrm>
          <a:off x="457200" y="1600200"/>
          <a:ext cx="8229600" cy="4297680"/>
        </p:xfrm>
        <a:graphic>
          <a:graphicData uri="http://schemas.openxmlformats.org/drawingml/2006/table">
            <a:tbl>
              <a:tblPr firstRow="1" bandRow="1">
                <a:tableStyleId>{5C22544A-7EE6-4342-B048-85BDC9FD1C3A}</a:tableStyleId>
              </a:tblPr>
              <a:tblGrid>
                <a:gridCol w="1507067">
                  <a:extLst>
                    <a:ext uri="{9D8B030D-6E8A-4147-A177-3AD203B41FA5}">
                      <a16:colId xmlns:a16="http://schemas.microsoft.com/office/drawing/2014/main" val="4048337868"/>
                    </a:ext>
                  </a:extLst>
                </a:gridCol>
                <a:gridCol w="1943704">
                  <a:extLst>
                    <a:ext uri="{9D8B030D-6E8A-4147-A177-3AD203B41FA5}">
                      <a16:colId xmlns:a16="http://schemas.microsoft.com/office/drawing/2014/main" val="24165074"/>
                    </a:ext>
                  </a:extLst>
                </a:gridCol>
                <a:gridCol w="1513115">
                  <a:extLst>
                    <a:ext uri="{9D8B030D-6E8A-4147-A177-3AD203B41FA5}">
                      <a16:colId xmlns:a16="http://schemas.microsoft.com/office/drawing/2014/main" val="1117162474"/>
                    </a:ext>
                  </a:extLst>
                </a:gridCol>
                <a:gridCol w="1619794">
                  <a:extLst>
                    <a:ext uri="{9D8B030D-6E8A-4147-A177-3AD203B41FA5}">
                      <a16:colId xmlns:a16="http://schemas.microsoft.com/office/drawing/2014/main" val="4108360998"/>
                    </a:ext>
                  </a:extLst>
                </a:gridCol>
                <a:gridCol w="1645920">
                  <a:extLst>
                    <a:ext uri="{9D8B030D-6E8A-4147-A177-3AD203B41FA5}">
                      <a16:colId xmlns:a16="http://schemas.microsoft.com/office/drawing/2014/main" val="3815876108"/>
                    </a:ext>
                  </a:extLst>
                </a:gridCol>
              </a:tblGrid>
              <a:tr h="458453">
                <a:tc>
                  <a:txBody>
                    <a:bodyPr/>
                    <a:lstStyle/>
                    <a:p>
                      <a:r>
                        <a:rPr lang="en-IN" dirty="0"/>
                        <a:t>Paper Title</a:t>
                      </a:r>
                    </a:p>
                  </a:txBody>
                  <a:tcPr/>
                </a:tc>
                <a:tc>
                  <a:txBody>
                    <a:bodyPr/>
                    <a:lstStyle/>
                    <a:p>
                      <a:r>
                        <a:rPr lang="en-IN" dirty="0"/>
                        <a:t>Approach/Algorithm</a:t>
                      </a:r>
                    </a:p>
                  </a:txBody>
                  <a:tcPr/>
                </a:tc>
                <a:tc>
                  <a:txBody>
                    <a:bodyPr/>
                    <a:lstStyle/>
                    <a:p>
                      <a:r>
                        <a:rPr lang="en-IN" dirty="0"/>
                        <a:t>Dataset Used</a:t>
                      </a:r>
                    </a:p>
                  </a:txBody>
                  <a:tcPr/>
                </a:tc>
                <a:tc>
                  <a:txBody>
                    <a:bodyPr/>
                    <a:lstStyle/>
                    <a:p>
                      <a:r>
                        <a:rPr lang="en-IN" dirty="0"/>
                        <a:t>Key Findings</a:t>
                      </a:r>
                    </a:p>
                  </a:txBody>
                  <a:tcPr/>
                </a:tc>
                <a:tc>
                  <a:txBody>
                    <a:bodyPr/>
                    <a:lstStyle/>
                    <a:p>
                      <a:r>
                        <a:rPr lang="en-IN" dirty="0"/>
                        <a:t>Gaps Identified</a:t>
                      </a:r>
                    </a:p>
                  </a:txBody>
                  <a:tcPr/>
                </a:tc>
                <a:extLst>
                  <a:ext uri="{0D108BD9-81ED-4DB2-BD59-A6C34878D82A}">
                    <a16:rowId xmlns:a16="http://schemas.microsoft.com/office/drawing/2014/main" val="2393457043"/>
                  </a:ext>
                </a:extLst>
              </a:tr>
              <a:tr h="1370347">
                <a:tc>
                  <a:txBody>
                    <a:bodyPr/>
                    <a:lstStyle/>
                    <a:p>
                      <a:r>
                        <a:rPr lang="en-US" dirty="0" err="1"/>
                        <a:t>SmileGNN</a:t>
                      </a:r>
                      <a:r>
                        <a:rPr lang="en-US" dirty="0"/>
                        <a:t>: Drug–Drug Interaction Prediction Based on SMILES &amp; GNN</a:t>
                      </a:r>
                      <a:endParaRPr lang="en-IN" dirty="0"/>
                    </a:p>
                  </a:txBody>
                  <a:tcPr/>
                </a:tc>
                <a:tc>
                  <a:txBody>
                    <a:bodyPr/>
                    <a:lstStyle/>
                    <a:p>
                      <a:r>
                        <a:rPr lang="en-IN" dirty="0"/>
                        <a:t>Graph Convolutional Network (GCN)</a:t>
                      </a:r>
                    </a:p>
                    <a:p>
                      <a:r>
                        <a:rPr lang="en-IN" dirty="0" err="1"/>
                        <a:t>Multirelational</a:t>
                      </a:r>
                      <a:r>
                        <a:rPr lang="en-IN" dirty="0"/>
                        <a:t> graph </a:t>
                      </a:r>
                      <a:r>
                        <a:rPr lang="en-IN" dirty="0" err="1"/>
                        <a:t>modeling</a:t>
                      </a:r>
                      <a:endParaRPr lang="en-IN" dirty="0"/>
                    </a:p>
                    <a:p>
                      <a:r>
                        <a:rPr lang="en-IN" dirty="0"/>
                        <a:t>Drugs as nodes, side effects as edge types</a:t>
                      </a:r>
                    </a:p>
                    <a:p>
                      <a:r>
                        <a:rPr lang="en-IN" dirty="0"/>
                        <a:t>Message passing to learn drug–drug interaction patterns</a:t>
                      </a:r>
                    </a:p>
                    <a:p>
                      <a:endParaRPr lang="en-IN" b="0" dirty="0"/>
                    </a:p>
                  </a:txBody>
                  <a:tcPr/>
                </a:tc>
                <a:tc>
                  <a:txBody>
                    <a:bodyPr/>
                    <a:lstStyle/>
                    <a:p>
                      <a:r>
                        <a:rPr lang="en-US" dirty="0"/>
                        <a:t>Knowledge graph built from multiple drug interaction sources (e.g., Deep DDI).</a:t>
                      </a:r>
                      <a:endParaRPr lang="en-IN" b="0" dirty="0"/>
                    </a:p>
                  </a:txBody>
                  <a:tcPr/>
                </a:tc>
                <a:tc>
                  <a:txBody>
                    <a:bodyPr/>
                    <a:lstStyle/>
                    <a:p>
                      <a:r>
                        <a:rPr lang="en-US" dirty="0"/>
                        <a:t>Achieved better DDI prediction performance compared to existing models.</a:t>
                      </a:r>
                      <a:endParaRPr lang="en-IN" dirty="0"/>
                    </a:p>
                  </a:txBody>
                  <a:tcPr/>
                </a:tc>
                <a:tc>
                  <a:txBody>
                    <a:bodyPr/>
                    <a:lstStyle/>
                    <a:p>
                      <a:r>
                        <a:rPr lang="en-US" dirty="0"/>
                        <a:t>Focused on structure-based DDI; lacks patient-specific context for personalized risk.</a:t>
                      </a:r>
                      <a:endParaRPr lang="en-IN" dirty="0"/>
                    </a:p>
                  </a:txBody>
                  <a:tcPr/>
                </a:tc>
                <a:extLst>
                  <a:ext uri="{0D108BD9-81ED-4DB2-BD59-A6C34878D82A}">
                    <a16:rowId xmlns:a16="http://schemas.microsoft.com/office/drawing/2014/main" val="4248226066"/>
                  </a:ext>
                </a:extLst>
              </a:tr>
            </a:tbl>
          </a:graphicData>
        </a:graphic>
      </p:graphicFrame>
      <p:sp>
        <p:nvSpPr>
          <p:cNvPr id="3" name="Footer Placeholder 2">
            <a:extLst>
              <a:ext uri="{FF2B5EF4-FFF2-40B4-BE49-F238E27FC236}">
                <a16:creationId xmlns:a16="http://schemas.microsoft.com/office/drawing/2014/main" id="{4DC26EE8-8FBF-1459-69A0-0D4BA26B2150}"/>
              </a:ext>
            </a:extLst>
          </p:cNvPr>
          <p:cNvSpPr>
            <a:spLocks noGrp="1"/>
          </p:cNvSpPr>
          <p:nvPr>
            <p:ph type="ftr" sz="quarter" idx="11"/>
          </p:nvPr>
        </p:nvSpPr>
        <p:spPr>
          <a:xfrm>
            <a:off x="2419643" y="6356350"/>
            <a:ext cx="4656405" cy="365125"/>
          </a:xfrm>
        </p:spPr>
        <p:txBody>
          <a:bodyPr/>
          <a:lstStyle/>
          <a:p>
            <a:r>
              <a:rPr lang="en-US" b="1" dirty="0"/>
              <a:t>Department of Computer Science and Engineering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5F37B-CF8F-9A9D-4ACD-C789A7E65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7BC5D-F3F7-D410-458C-63C60AE0F336}"/>
              </a:ext>
            </a:extLst>
          </p:cNvPr>
          <p:cNvSpPr>
            <a:spLocks noGrp="1"/>
          </p:cNvSpPr>
          <p:nvPr>
            <p:ph type="title"/>
          </p:nvPr>
        </p:nvSpPr>
        <p:spPr>
          <a:xfrm>
            <a:off x="457200" y="274638"/>
            <a:ext cx="8229600" cy="1143000"/>
          </a:xfrm>
        </p:spPr>
        <p:txBody>
          <a:bodyPr/>
          <a:lstStyle/>
          <a:p>
            <a:r>
              <a:rPr lang="en-IN" dirty="0"/>
              <a:t>LITERATURE SURVEY</a:t>
            </a:r>
          </a:p>
        </p:txBody>
      </p:sp>
      <p:graphicFrame>
        <p:nvGraphicFramePr>
          <p:cNvPr id="8" name="Content Placeholder 7">
            <a:extLst>
              <a:ext uri="{FF2B5EF4-FFF2-40B4-BE49-F238E27FC236}">
                <a16:creationId xmlns:a16="http://schemas.microsoft.com/office/drawing/2014/main" id="{3ED3C782-B9A6-A4A6-FF3E-93D82BF7590C}"/>
              </a:ext>
            </a:extLst>
          </p:cNvPr>
          <p:cNvGraphicFramePr>
            <a:graphicFrameLocks noGrp="1"/>
          </p:cNvGraphicFramePr>
          <p:nvPr>
            <p:ph idx="1"/>
            <p:extLst>
              <p:ext uri="{D42A27DB-BD31-4B8C-83A1-F6EECF244321}">
                <p14:modId xmlns:p14="http://schemas.microsoft.com/office/powerpoint/2010/main" val="140683152"/>
              </p:ext>
            </p:extLst>
          </p:nvPr>
        </p:nvGraphicFramePr>
        <p:xfrm>
          <a:off x="457200" y="1219201"/>
          <a:ext cx="8229600" cy="4846320"/>
        </p:xfrm>
        <a:graphic>
          <a:graphicData uri="http://schemas.openxmlformats.org/drawingml/2006/table">
            <a:tbl>
              <a:tblPr firstRow="1" bandRow="1">
                <a:tableStyleId>{5C22544A-7EE6-4342-B048-85BDC9FD1C3A}</a:tableStyleId>
              </a:tblPr>
              <a:tblGrid>
                <a:gridCol w="2322576">
                  <a:extLst>
                    <a:ext uri="{9D8B030D-6E8A-4147-A177-3AD203B41FA5}">
                      <a16:colId xmlns:a16="http://schemas.microsoft.com/office/drawing/2014/main" val="4048337868"/>
                    </a:ext>
                  </a:extLst>
                </a:gridCol>
                <a:gridCol w="1414272">
                  <a:extLst>
                    <a:ext uri="{9D8B030D-6E8A-4147-A177-3AD203B41FA5}">
                      <a16:colId xmlns:a16="http://schemas.microsoft.com/office/drawing/2014/main" val="24165074"/>
                    </a:ext>
                  </a:extLst>
                </a:gridCol>
                <a:gridCol w="1414272">
                  <a:extLst>
                    <a:ext uri="{9D8B030D-6E8A-4147-A177-3AD203B41FA5}">
                      <a16:colId xmlns:a16="http://schemas.microsoft.com/office/drawing/2014/main" val="1117162474"/>
                    </a:ext>
                  </a:extLst>
                </a:gridCol>
                <a:gridCol w="1560576">
                  <a:extLst>
                    <a:ext uri="{9D8B030D-6E8A-4147-A177-3AD203B41FA5}">
                      <a16:colId xmlns:a16="http://schemas.microsoft.com/office/drawing/2014/main" val="4108360998"/>
                    </a:ext>
                  </a:extLst>
                </a:gridCol>
                <a:gridCol w="1517904">
                  <a:extLst>
                    <a:ext uri="{9D8B030D-6E8A-4147-A177-3AD203B41FA5}">
                      <a16:colId xmlns:a16="http://schemas.microsoft.com/office/drawing/2014/main" val="3815876108"/>
                    </a:ext>
                  </a:extLst>
                </a:gridCol>
              </a:tblGrid>
              <a:tr h="626837">
                <a:tc>
                  <a:txBody>
                    <a:bodyPr/>
                    <a:lstStyle/>
                    <a:p>
                      <a:r>
                        <a:rPr lang="en-IN" dirty="0"/>
                        <a:t>Paper Title</a:t>
                      </a:r>
                    </a:p>
                  </a:txBody>
                  <a:tcPr/>
                </a:tc>
                <a:tc>
                  <a:txBody>
                    <a:bodyPr/>
                    <a:lstStyle/>
                    <a:p>
                      <a:r>
                        <a:rPr lang="en-IN" dirty="0"/>
                        <a:t>Approach/Algorithm</a:t>
                      </a:r>
                    </a:p>
                  </a:txBody>
                  <a:tcPr/>
                </a:tc>
                <a:tc>
                  <a:txBody>
                    <a:bodyPr/>
                    <a:lstStyle/>
                    <a:p>
                      <a:r>
                        <a:rPr lang="en-IN" dirty="0"/>
                        <a:t>Dataset Used</a:t>
                      </a:r>
                    </a:p>
                  </a:txBody>
                  <a:tcPr/>
                </a:tc>
                <a:tc>
                  <a:txBody>
                    <a:bodyPr/>
                    <a:lstStyle/>
                    <a:p>
                      <a:r>
                        <a:rPr lang="en-IN" dirty="0"/>
                        <a:t>Key Findings</a:t>
                      </a:r>
                    </a:p>
                  </a:txBody>
                  <a:tcPr/>
                </a:tc>
                <a:tc>
                  <a:txBody>
                    <a:bodyPr/>
                    <a:lstStyle/>
                    <a:p>
                      <a:r>
                        <a:rPr lang="en-IN" dirty="0"/>
                        <a:t>Gaps Identified</a:t>
                      </a:r>
                    </a:p>
                  </a:txBody>
                  <a:tcPr/>
                </a:tc>
                <a:extLst>
                  <a:ext uri="{0D108BD9-81ED-4DB2-BD59-A6C34878D82A}">
                    <a16:rowId xmlns:a16="http://schemas.microsoft.com/office/drawing/2014/main" val="2393457043"/>
                  </a:ext>
                </a:extLst>
              </a:tr>
              <a:tr h="1970059">
                <a:tc>
                  <a:txBody>
                    <a:bodyPr/>
                    <a:lstStyle/>
                    <a:p>
                      <a:r>
                        <a:rPr lang="en-US" dirty="0" err="1"/>
                        <a:t>SimVec</a:t>
                      </a:r>
                      <a:r>
                        <a:rPr lang="en-US" dirty="0"/>
                        <a:t>: Predicting Polypharmacy Side Effects for New Drugs</a:t>
                      </a:r>
                      <a:endParaRPr lang="en-IN" dirty="0"/>
                    </a:p>
                  </a:txBody>
                  <a:tcPr/>
                </a:tc>
                <a:tc>
                  <a:txBody>
                    <a:bodyPr/>
                    <a:lstStyle/>
                    <a:p>
                      <a:r>
                        <a:rPr lang="en-US" dirty="0"/>
                        <a:t>Graph Neural Network (GNN)</a:t>
                      </a:r>
                    </a:p>
                    <a:p>
                      <a:r>
                        <a:rPr lang="en-US" dirty="0"/>
                        <a:t>Drug interaction graph construction</a:t>
                      </a:r>
                    </a:p>
                    <a:p>
                      <a:r>
                        <a:rPr lang="en-US" dirty="0"/>
                        <a:t>Node embedding learning via neighborhood aggregation</a:t>
                      </a:r>
                    </a:p>
                    <a:p>
                      <a:endParaRPr lang="en-IN" b="0" dirty="0"/>
                    </a:p>
                  </a:txBody>
                  <a:tcPr/>
                </a:tc>
                <a:tc>
                  <a:txBody>
                    <a:bodyPr/>
                    <a:lstStyle/>
                    <a:p>
                      <a:r>
                        <a:rPr lang="en-IN" dirty="0" err="1"/>
                        <a:t>DrugBank</a:t>
                      </a:r>
                      <a:r>
                        <a:rPr lang="en-IN" dirty="0"/>
                        <a:t> DDI dataset</a:t>
                      </a:r>
                      <a:endParaRPr lang="en-IN" b="0" dirty="0"/>
                    </a:p>
                  </a:txBody>
                  <a:tcPr/>
                </a:tc>
                <a:tc>
                  <a:txBody>
                    <a:bodyPr/>
                    <a:lstStyle/>
                    <a:p>
                      <a:r>
                        <a:rPr lang="en-US" dirty="0"/>
                        <a:t>GNN models outperform traditional machine learning methods in DDI prediction</a:t>
                      </a:r>
                    </a:p>
                    <a:p>
                      <a:r>
                        <a:rPr lang="en-US" dirty="0"/>
                        <a:t>Graph-based learning captures complex drug relationship patterns</a:t>
                      </a:r>
                    </a:p>
                    <a:p>
                      <a:endParaRPr lang="en-IN" dirty="0"/>
                    </a:p>
                  </a:txBody>
                  <a:tcPr/>
                </a:tc>
                <a:tc>
                  <a:txBody>
                    <a:bodyPr/>
                    <a:lstStyle/>
                    <a:p>
                      <a:r>
                        <a:rPr lang="en-US" dirty="0"/>
                        <a:t>The model predicts drug–drug interactions without incorporating patient-specific clinical factors.</a:t>
                      </a:r>
                    </a:p>
                    <a:p>
                      <a:endParaRPr lang="en-IN" b="0" dirty="0"/>
                    </a:p>
                  </a:txBody>
                  <a:tcPr/>
                </a:tc>
                <a:extLst>
                  <a:ext uri="{0D108BD9-81ED-4DB2-BD59-A6C34878D82A}">
                    <a16:rowId xmlns:a16="http://schemas.microsoft.com/office/drawing/2014/main" val="4248226066"/>
                  </a:ext>
                </a:extLst>
              </a:tr>
            </a:tbl>
          </a:graphicData>
        </a:graphic>
      </p:graphicFrame>
      <p:sp>
        <p:nvSpPr>
          <p:cNvPr id="3" name="Footer Placeholder 2">
            <a:extLst>
              <a:ext uri="{FF2B5EF4-FFF2-40B4-BE49-F238E27FC236}">
                <a16:creationId xmlns:a16="http://schemas.microsoft.com/office/drawing/2014/main" id="{A3D32AAD-7334-8E14-2186-4853CBAC872A}"/>
              </a:ext>
            </a:extLst>
          </p:cNvPr>
          <p:cNvSpPr>
            <a:spLocks noGrp="1"/>
          </p:cNvSpPr>
          <p:nvPr>
            <p:ph type="ftr" sz="quarter" idx="11"/>
          </p:nvPr>
        </p:nvSpPr>
        <p:spPr>
          <a:xfrm>
            <a:off x="2419643" y="6356350"/>
            <a:ext cx="4656405" cy="365125"/>
          </a:xfrm>
        </p:spPr>
        <p:txBody>
          <a:bodyPr/>
          <a:lstStyle/>
          <a:p>
            <a:r>
              <a:rPr lang="en-US" b="1" dirty="0"/>
              <a:t>Department of Computer Science and Engineering</a:t>
            </a:r>
          </a:p>
        </p:txBody>
      </p:sp>
    </p:spTree>
    <p:extLst>
      <p:ext uri="{BB962C8B-B14F-4D97-AF65-F5344CB8AC3E}">
        <p14:creationId xmlns:p14="http://schemas.microsoft.com/office/powerpoint/2010/main" val="1425416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Autofit/>
          </a:bodyPr>
          <a:lstStyle/>
          <a:p>
            <a:r>
              <a:rPr lang="en-IN" dirty="0"/>
              <a:t>OBJECTIVES</a:t>
            </a:r>
          </a:p>
        </p:txBody>
      </p:sp>
      <p:sp>
        <p:nvSpPr>
          <p:cNvPr id="9" name="Content Placeholder 8">
            <a:extLst>
              <a:ext uri="{FF2B5EF4-FFF2-40B4-BE49-F238E27FC236}">
                <a16:creationId xmlns:a16="http://schemas.microsoft.com/office/drawing/2014/main" id="{129B2E81-1771-2931-0CE7-8A2F24622D64}"/>
              </a:ext>
            </a:extLst>
          </p:cNvPr>
          <p:cNvSpPr>
            <a:spLocks noGrp="1"/>
          </p:cNvSpPr>
          <p:nvPr>
            <p:ph idx="1"/>
          </p:nvPr>
        </p:nvSpPr>
        <p:spPr/>
        <p:txBody>
          <a:bodyPr>
            <a:normAutofit/>
          </a:bodyPr>
          <a:lstStyle/>
          <a:p>
            <a:r>
              <a:rPr lang="en-US" dirty="0"/>
              <a:t>To design a graph-based framework for modeling complex drug–drug interactions in polypharmacy scenarios.</a:t>
            </a:r>
          </a:p>
          <a:p>
            <a:r>
              <a:rPr lang="en-US" dirty="0"/>
              <a:t>To develop a Graph Neural Network model that predicts patient-specific risk of adverse drug </a:t>
            </a:r>
            <a:r>
              <a:rPr lang="en-US" dirty="0" err="1"/>
              <a:t>reactions.To</a:t>
            </a:r>
            <a:r>
              <a:rPr lang="en-US" dirty="0"/>
              <a:t> integrate clinical parameters such as age, comorbidities, and organ function into the risk prediction process.</a:t>
            </a:r>
          </a:p>
        </p:txBody>
      </p:sp>
      <p:sp>
        <p:nvSpPr>
          <p:cNvPr id="3" name="Footer Placeholder 2">
            <a:extLst>
              <a:ext uri="{FF2B5EF4-FFF2-40B4-BE49-F238E27FC236}">
                <a16:creationId xmlns:a16="http://schemas.microsoft.com/office/drawing/2014/main" id="{4D4E8448-2A11-46F9-CD08-14330D65B222}"/>
              </a:ext>
            </a:extLst>
          </p:cNvPr>
          <p:cNvSpPr>
            <a:spLocks noGrp="1"/>
          </p:cNvSpPr>
          <p:nvPr>
            <p:ph type="ftr" sz="quarter" idx="11"/>
          </p:nvPr>
        </p:nvSpPr>
        <p:spPr>
          <a:xfrm>
            <a:off x="1477107" y="6356350"/>
            <a:ext cx="6077243" cy="365125"/>
          </a:xfrm>
        </p:spPr>
        <p:txBody>
          <a:bodyPr/>
          <a:lstStyle/>
          <a:p>
            <a:r>
              <a:rPr lang="en-US" b="1" dirty="0"/>
              <a:t>Department of Computer Science and Engineering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52F0E-01C9-F45E-C9B3-F6FEA222B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DEFA8-C5C3-DF6A-1B54-E38E1A6BA8AB}"/>
              </a:ext>
            </a:extLst>
          </p:cNvPr>
          <p:cNvSpPr>
            <a:spLocks noGrp="1"/>
          </p:cNvSpPr>
          <p:nvPr>
            <p:ph type="title"/>
          </p:nvPr>
        </p:nvSpPr>
        <p:spPr>
          <a:xfrm>
            <a:off x="457200" y="274638"/>
            <a:ext cx="8229600" cy="1143000"/>
          </a:xfrm>
        </p:spPr>
        <p:txBody>
          <a:bodyPr>
            <a:noAutofit/>
          </a:bodyPr>
          <a:lstStyle/>
          <a:p>
            <a:r>
              <a:rPr lang="en-IN" dirty="0"/>
              <a:t>OBJECTIVES</a:t>
            </a:r>
          </a:p>
        </p:txBody>
      </p:sp>
      <p:sp>
        <p:nvSpPr>
          <p:cNvPr id="9" name="Content Placeholder 8">
            <a:extLst>
              <a:ext uri="{FF2B5EF4-FFF2-40B4-BE49-F238E27FC236}">
                <a16:creationId xmlns:a16="http://schemas.microsoft.com/office/drawing/2014/main" id="{3CFB9BB6-1149-E868-AA4A-BCA1EA7DD5FA}"/>
              </a:ext>
            </a:extLst>
          </p:cNvPr>
          <p:cNvSpPr>
            <a:spLocks noGrp="1"/>
          </p:cNvSpPr>
          <p:nvPr>
            <p:ph idx="1"/>
          </p:nvPr>
        </p:nvSpPr>
        <p:spPr/>
        <p:txBody>
          <a:bodyPr>
            <a:normAutofit/>
          </a:bodyPr>
          <a:lstStyle/>
          <a:p>
            <a:r>
              <a:rPr lang="en-US" dirty="0"/>
              <a:t>To generate interpretable outputs by identifying high-risk drug combinations contributing to the predicted risk.</a:t>
            </a:r>
          </a:p>
          <a:p>
            <a:r>
              <a:rPr lang="en-US" dirty="0"/>
              <a:t>To support clinical decision-making by providing early warnings for unsafe medication combinations.</a:t>
            </a:r>
          </a:p>
        </p:txBody>
      </p:sp>
      <p:sp>
        <p:nvSpPr>
          <p:cNvPr id="3" name="Footer Placeholder 2">
            <a:extLst>
              <a:ext uri="{FF2B5EF4-FFF2-40B4-BE49-F238E27FC236}">
                <a16:creationId xmlns:a16="http://schemas.microsoft.com/office/drawing/2014/main" id="{ADCD8C36-311F-930F-8D5F-8A678A3E1004}"/>
              </a:ext>
            </a:extLst>
          </p:cNvPr>
          <p:cNvSpPr>
            <a:spLocks noGrp="1"/>
          </p:cNvSpPr>
          <p:nvPr>
            <p:ph type="ftr" sz="quarter" idx="11"/>
          </p:nvPr>
        </p:nvSpPr>
        <p:spPr>
          <a:xfrm>
            <a:off x="1477107" y="6356350"/>
            <a:ext cx="6077243" cy="365125"/>
          </a:xfrm>
        </p:spPr>
        <p:txBody>
          <a:bodyPr/>
          <a:lstStyle/>
          <a:p>
            <a:r>
              <a:rPr lang="en-US" b="1" dirty="0"/>
              <a:t>Department of Computer Science and Engineering</a:t>
            </a:r>
          </a:p>
        </p:txBody>
      </p:sp>
    </p:spTree>
    <p:extLst>
      <p:ext uri="{BB962C8B-B14F-4D97-AF65-F5344CB8AC3E}">
        <p14:creationId xmlns:p14="http://schemas.microsoft.com/office/powerpoint/2010/main" val="2862329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9D8FA78-203C-3999-228C-A191F28184F1}"/>
              </a:ext>
            </a:extLst>
          </p:cNvPr>
          <p:cNvSpPr>
            <a:spLocks noGrp="1"/>
          </p:cNvSpPr>
          <p:nvPr>
            <p:ph type="title"/>
          </p:nvPr>
        </p:nvSpPr>
        <p:spPr>
          <a:xfrm>
            <a:off x="457200" y="274638"/>
            <a:ext cx="8229600" cy="1143000"/>
          </a:xfrm>
        </p:spPr>
        <p:txBody>
          <a:bodyPr>
            <a:normAutofit/>
          </a:bodyPr>
          <a:lstStyle/>
          <a:p>
            <a:r>
              <a:rPr lang="en-IN" dirty="0"/>
              <a:t>PROJECT MILESTONE TRACKER</a:t>
            </a:r>
          </a:p>
        </p:txBody>
      </p:sp>
      <p:sp>
        <p:nvSpPr>
          <p:cNvPr id="9" name="Content Placeholder 8">
            <a:extLst>
              <a:ext uri="{FF2B5EF4-FFF2-40B4-BE49-F238E27FC236}">
                <a16:creationId xmlns:a16="http://schemas.microsoft.com/office/drawing/2014/main" id="{FC6B91BC-1A43-AAF1-7378-5C89AC28917B}"/>
              </a:ext>
            </a:extLst>
          </p:cNvPr>
          <p:cNvSpPr>
            <a:spLocks noGrp="1"/>
          </p:cNvSpPr>
          <p:nvPr>
            <p:ph idx="1"/>
          </p:nvPr>
        </p:nvSpPr>
        <p:spPr/>
        <p:txBody>
          <a:bodyPr/>
          <a:lstStyle/>
          <a:p>
            <a:r>
              <a:rPr lang="en-IN" dirty="0"/>
              <a:t>Paste Scanned Copy of Handbook Page No:3(Signed)</a:t>
            </a:r>
          </a:p>
        </p:txBody>
      </p:sp>
      <p:sp>
        <p:nvSpPr>
          <p:cNvPr id="2" name="Footer Placeholder 1">
            <a:extLst>
              <a:ext uri="{FF2B5EF4-FFF2-40B4-BE49-F238E27FC236}">
                <a16:creationId xmlns:a16="http://schemas.microsoft.com/office/drawing/2014/main" id="{31470FD3-2494-BCB3-5E7D-7377F181E3AB}"/>
              </a:ext>
            </a:extLst>
          </p:cNvPr>
          <p:cNvSpPr>
            <a:spLocks noGrp="1"/>
          </p:cNvSpPr>
          <p:nvPr>
            <p:ph type="ftr" sz="quarter" idx="11"/>
          </p:nvPr>
        </p:nvSpPr>
        <p:spPr>
          <a:xfrm>
            <a:off x="1997612" y="6356350"/>
            <a:ext cx="5022166" cy="365125"/>
          </a:xfrm>
        </p:spPr>
        <p:txBody>
          <a:bodyPr/>
          <a:lstStyle/>
          <a:p>
            <a:r>
              <a:rPr lang="en-US" b="1" dirty="0"/>
              <a:t>Department of Computer Science and Engineering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Q&amp;A</a:t>
            </a:r>
            <a:endParaRPr dirty="0"/>
          </a:p>
        </p:txBody>
      </p:sp>
      <p:sp>
        <p:nvSpPr>
          <p:cNvPr id="3" name="Content Placeholder 2"/>
          <p:cNvSpPr>
            <a:spLocks noGrp="1"/>
          </p:cNvSpPr>
          <p:nvPr>
            <p:ph idx="1"/>
          </p:nvPr>
        </p:nvSpPr>
        <p:spPr/>
        <p:txBody>
          <a:bodyPr/>
          <a:lstStyle/>
          <a:p>
            <a:pPr marL="0" indent="0">
              <a:buNone/>
            </a:pPr>
            <a:r>
              <a:rPr lang="en-US" dirty="0"/>
              <a:t>           </a:t>
            </a:r>
          </a:p>
          <a:p>
            <a:pPr marL="0" indent="0">
              <a:buNone/>
            </a:pPr>
            <a:endParaRPr lang="en-US" dirty="0"/>
          </a:p>
          <a:p>
            <a:pPr marL="0" indent="0">
              <a:buNone/>
            </a:pPr>
            <a:endParaRPr lang="en-US" dirty="0"/>
          </a:p>
          <a:p>
            <a:pPr marL="0" indent="0">
              <a:buNone/>
            </a:pPr>
            <a:r>
              <a:rPr lang="en-US" dirty="0"/>
              <a:t>                                 Thank you</a:t>
            </a:r>
          </a:p>
          <a:p>
            <a:pPr marL="0" indent="0">
              <a:buNone/>
            </a:pPr>
            <a:r>
              <a:rPr lang="en-US" dirty="0"/>
              <a:t>                        Open for the Questions </a:t>
            </a:r>
            <a:endParaRPr dirty="0"/>
          </a:p>
        </p:txBody>
      </p:sp>
      <p:sp>
        <p:nvSpPr>
          <p:cNvPr id="4" name="Footer Placeholder 3">
            <a:extLst>
              <a:ext uri="{FF2B5EF4-FFF2-40B4-BE49-F238E27FC236}">
                <a16:creationId xmlns:a16="http://schemas.microsoft.com/office/drawing/2014/main" id="{2B2FF14F-C4CF-4927-A9AB-9BF4C299565C}"/>
              </a:ext>
            </a:extLst>
          </p:cNvPr>
          <p:cNvSpPr>
            <a:spLocks noGrp="1"/>
          </p:cNvSpPr>
          <p:nvPr>
            <p:ph type="ftr" sz="quarter" idx="11"/>
          </p:nvPr>
        </p:nvSpPr>
        <p:spPr>
          <a:xfrm>
            <a:off x="1280159" y="6356350"/>
            <a:ext cx="6091311" cy="365125"/>
          </a:xfrm>
        </p:spPr>
        <p:txBody>
          <a:bodyPr/>
          <a:lstStyle/>
          <a:p>
            <a:r>
              <a:rPr lang="en-US" b="1" dirty="0"/>
              <a:t>Department of Computer Science and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420</TotalTime>
  <Words>1143</Words>
  <Application>Microsoft Office PowerPoint</Application>
  <PresentationFormat>On-screen Show (4:3)</PresentationFormat>
  <Paragraphs>172</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  VARDHAMAN COLLEGE OF ENGINEERING DEPARTMENT OF CSE</vt:lpstr>
      <vt:lpstr>Table of Contents</vt:lpstr>
      <vt:lpstr>TITLE</vt:lpstr>
      <vt:lpstr>PROJECT PLANNING</vt:lpstr>
      <vt:lpstr>PROJECT PLANNING</vt:lpstr>
      <vt:lpstr>Research Phase </vt:lpstr>
      <vt:lpstr>Research Phase</vt:lpstr>
      <vt:lpstr>Design Phase</vt:lpstr>
      <vt:lpstr>Design Phase</vt:lpstr>
      <vt:lpstr>Design Phase</vt:lpstr>
      <vt:lpstr>Design Phase</vt:lpstr>
      <vt:lpstr> BACKGROUND RESEARCH</vt:lpstr>
      <vt:lpstr> BACKGROUND RESEARCH</vt:lpstr>
      <vt:lpstr> BACKGROUND RESEARCH</vt:lpstr>
      <vt:lpstr>LITERATURE SURVEY</vt:lpstr>
      <vt:lpstr>LITERATURE SURVEY</vt:lpstr>
      <vt:lpstr>OBJECTIVES</vt:lpstr>
      <vt:lpstr>OBJECTIVES</vt:lpstr>
      <vt:lpstr>PROJECT MILESTONE TRACKER</vt:lpstr>
      <vt:lpstr>Q&amp;A</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VARDHAMAN COLLEGE OF ENGINEERING DEPARTMENT OF AIML &amp; AIDS</dc:title>
  <dc:creator>MANISH CHHABRA</dc:creator>
  <dc:description>generated using python-pptx</dc:description>
  <cp:lastModifiedBy>Praveen Dheeraj</cp:lastModifiedBy>
  <cp:revision>17</cp:revision>
  <dcterms:created xsi:type="dcterms:W3CDTF">2013-01-27T09:14:16Z</dcterms:created>
  <dcterms:modified xsi:type="dcterms:W3CDTF">2026-01-27T07:00:34Z</dcterms:modified>
</cp:coreProperties>
</file>